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9" r:id="rId6"/>
    <p:sldId id="280" r:id="rId7"/>
    <p:sldId id="260" r:id="rId8"/>
    <p:sldId id="261" r:id="rId9"/>
    <p:sldId id="262" r:id="rId10"/>
    <p:sldId id="263" r:id="rId11"/>
    <p:sldId id="281" r:id="rId12"/>
    <p:sldId id="282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5C"/>
    <a:srgbClr val="1BAF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96696" y="2203838"/>
            <a:ext cx="6380922" cy="10823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 i="0" dirty="0" err="1">
                <a:solidFill>
                  <a:srgbClr val="1F385C"/>
                </a:solidFill>
              </a:rPr>
              <a:t>GraphSAGE</a:t>
            </a:r>
            <a:endParaRPr sz="4200" b="1" i="0" dirty="0">
              <a:solidFill>
                <a:srgbClr val="1F385C"/>
              </a:solidFill>
            </a:endParaRPr>
          </a:p>
          <a:p>
            <a:pPr algn="l">
              <a:spcAft>
                <a:spcPts val="0"/>
              </a:spcAft>
            </a:pPr>
            <a:r>
              <a:rPr sz="2400" b="0" i="0" dirty="0">
                <a:solidFill>
                  <a:srgbClr val="55606B"/>
                </a:solidFill>
              </a:rPr>
              <a:t>Inductive Representation Learning on Large 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286209"/>
            <a:ext cx="960120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1" dirty="0">
                <a:solidFill>
                  <a:srgbClr val="55606B"/>
                </a:solidFill>
              </a:rPr>
              <a:t>Reproducing and evaluating Hamilton, Ying &amp; Leskovec (2017) on the PPI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23560"/>
            <a:ext cx="5486400" cy="3949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dirty="0">
                <a:solidFill>
                  <a:srgbClr val="1F385C"/>
                </a:solidFill>
              </a:rPr>
              <a:t>Federico Cerutti — 85644A</a:t>
            </a:r>
          </a:p>
          <a:p>
            <a:pPr algn="l"/>
            <a:r>
              <a:rPr sz="1200" b="0" i="0" dirty="0">
                <a:solidFill>
                  <a:srgbClr val="55606B"/>
                </a:solidFill>
              </a:rPr>
              <a:t>ML on Graphs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9224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 dirty="0" err="1">
                <a:solidFill>
                  <a:srgbClr val="9AA5B1"/>
                </a:solidFill>
              </a:rPr>
              <a:t>GraphSAGE</a:t>
            </a:r>
            <a:r>
              <a:rPr sz="1000" b="0" i="1" dirty="0">
                <a:solidFill>
                  <a:srgbClr val="9AA5B1"/>
                </a:solidFill>
              </a:rPr>
              <a:t> on PPI – Scaled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01 · INTRODUCTION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Why graphs need their own representation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10841"/>
            <a:ext cx="4674704" cy="2087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 dirty="0">
                <a:solidFill>
                  <a:srgbClr val="1F385C"/>
                </a:solidFill>
              </a:rPr>
              <a:t>Why graph representation learning</a:t>
            </a:r>
            <a:endParaRPr b="1" i="0" dirty="0">
              <a:solidFill>
                <a:srgbClr val="1F385C"/>
              </a:solidFill>
            </a:endParaRPr>
          </a:p>
          <a:p>
            <a:pPr algn="l"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Many real problems are naturally </a:t>
            </a:r>
            <a:r>
              <a:rPr sz="1400" b="1" i="0" dirty="0">
                <a:solidFill>
                  <a:srgbClr val="1F385C"/>
                </a:solidFill>
              </a:rPr>
              <a:t>graphs</a:t>
            </a:r>
            <a:r>
              <a:rPr sz="1400" b="0" i="0" dirty="0">
                <a:solidFill>
                  <a:srgbClr val="262B33"/>
                </a:solidFill>
              </a:rPr>
              <a:t>: proteins, social networks, citations</a:t>
            </a:r>
          </a:p>
          <a:p>
            <a:pPr algn="l"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Downstream tasks (classification, link prediction) need a </a:t>
            </a:r>
            <a:r>
              <a:rPr sz="1400" b="1" i="0" dirty="0">
                <a:solidFill>
                  <a:srgbClr val="1F385C"/>
                </a:solidFill>
              </a:rPr>
              <a:t>vector per node</a:t>
            </a:r>
          </a:p>
          <a:p>
            <a:pPr algn="l"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Hand</a:t>
            </a:r>
            <a:r>
              <a:rPr lang="it-IT" sz="1400" b="0" i="0" dirty="0">
                <a:solidFill>
                  <a:srgbClr val="262B33"/>
                </a:solidFill>
              </a:rPr>
              <a:t> </a:t>
            </a:r>
            <a:r>
              <a:rPr sz="1400" b="0" i="0" dirty="0">
                <a:solidFill>
                  <a:srgbClr val="262B33"/>
                </a:solidFill>
              </a:rPr>
              <a:t>crafted features don't generalize: want </a:t>
            </a:r>
            <a:r>
              <a:rPr sz="1400" b="0" i="1" dirty="0">
                <a:solidFill>
                  <a:srgbClr val="262B33"/>
                </a:solidFill>
              </a:rPr>
              <a:t>learned</a:t>
            </a:r>
            <a:r>
              <a:rPr sz="1400" b="0" i="0" dirty="0">
                <a:solidFill>
                  <a:srgbClr val="262B33"/>
                </a:solidFill>
              </a:rPr>
              <a:t> 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31498" y="2310841"/>
            <a:ext cx="4674704" cy="18723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 dirty="0">
                <a:solidFill>
                  <a:srgbClr val="1F385C"/>
                </a:solidFill>
              </a:rPr>
              <a:t>The challenge</a:t>
            </a:r>
            <a:endParaRPr b="1" i="0" dirty="0">
              <a:solidFill>
                <a:srgbClr val="1F385C"/>
              </a:solidFill>
            </a:endParaRPr>
          </a:p>
          <a:p>
            <a:pPr algn="l"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Classic methods (</a:t>
            </a:r>
            <a:r>
              <a:rPr sz="1400" b="0" i="0" dirty="0" err="1">
                <a:solidFill>
                  <a:srgbClr val="262B33"/>
                </a:solidFill>
              </a:rPr>
              <a:t>DeepWalk</a:t>
            </a:r>
            <a:r>
              <a:rPr sz="1400" b="0" i="0" dirty="0">
                <a:solidFill>
                  <a:srgbClr val="262B33"/>
                </a:solidFill>
              </a:rPr>
              <a:t>, node2vec, LINE) learn one free vector </a:t>
            </a:r>
            <a:r>
              <a:rPr sz="1400" b="1" i="0" dirty="0">
                <a:solidFill>
                  <a:srgbClr val="1F385C"/>
                </a:solidFill>
              </a:rPr>
              <a:t>per node</a:t>
            </a:r>
          </a:p>
          <a:p>
            <a:pPr algn="l"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They only work for nodes seen during training: </a:t>
            </a:r>
            <a:r>
              <a:rPr sz="1400" b="1" i="0" dirty="0" err="1">
                <a:solidFill>
                  <a:srgbClr val="1F385C"/>
                </a:solidFill>
              </a:rPr>
              <a:t>transductive</a:t>
            </a:r>
            <a:endParaRPr sz="1400" b="1" i="0" dirty="0">
              <a:solidFill>
                <a:srgbClr val="1F385C"/>
              </a:solidFill>
            </a:endParaRPr>
          </a:p>
          <a:p>
            <a:pPr algn="l"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Goal: an embedding function that generalizes to </a:t>
            </a:r>
            <a:r>
              <a:rPr sz="1400" b="1" i="0" dirty="0">
                <a:solidFill>
                  <a:srgbClr val="1F385C"/>
                </a:solidFill>
              </a:rPr>
              <a:t>unseen nodes and graphs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02 · TWO PARADIGMS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 err="1">
                <a:solidFill>
                  <a:srgbClr val="1F385C"/>
                </a:solidFill>
              </a:rPr>
              <a:t>Transductive</a:t>
            </a:r>
            <a:r>
              <a:rPr sz="3000" b="1" i="0" dirty="0">
                <a:solidFill>
                  <a:srgbClr val="1F385C"/>
                </a:solidFill>
              </a:rPr>
              <a:t> vs. inductive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4952847" cy="28803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867" y="2043286"/>
            <a:ext cx="4221327" cy="1990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1" i="0" dirty="0" err="1">
                <a:solidFill>
                  <a:srgbClr val="1F385C"/>
                </a:solidFill>
              </a:rPr>
              <a:t>Transductive</a:t>
            </a:r>
            <a:endParaRPr sz="1900" b="1" i="0" dirty="0">
              <a:solidFill>
                <a:srgbClr val="1F385C"/>
              </a:solidFill>
            </a:endParaRPr>
          </a:p>
          <a:p>
            <a:pPr algn="l">
              <a:spcAft>
                <a:spcPts val="1800"/>
              </a:spcAft>
            </a:pPr>
            <a:r>
              <a:rPr sz="1300" b="0" i="0" dirty="0">
                <a:solidFill>
                  <a:srgbClr val="55606B"/>
                </a:solidFill>
              </a:rPr>
              <a:t>(</a:t>
            </a:r>
            <a:r>
              <a:rPr sz="1300" b="0" i="0" dirty="0" err="1">
                <a:solidFill>
                  <a:srgbClr val="55606B"/>
                </a:solidFill>
              </a:rPr>
              <a:t>DeepWalk</a:t>
            </a:r>
            <a:r>
              <a:rPr sz="1300" b="0" i="0" dirty="0">
                <a:solidFill>
                  <a:srgbClr val="55606B"/>
                </a:solidFill>
              </a:rPr>
              <a:t> / node2vec)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Learns a </a:t>
            </a:r>
            <a:r>
              <a:rPr sz="1400" b="1" i="0" dirty="0">
                <a:solidFill>
                  <a:srgbClr val="1F385C"/>
                </a:solidFill>
              </a:rPr>
              <a:t>lookup table</a:t>
            </a:r>
            <a:r>
              <a:rPr sz="1400" b="0" i="0" dirty="0">
                <a:solidFill>
                  <a:srgbClr val="262B33"/>
                </a:solidFill>
              </a:rPr>
              <a:t>, one row per node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Embedding space can rotate between runs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Fails on unseen nodes / unseen graphs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53047" y="1783080"/>
            <a:ext cx="4952847" cy="28803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18806" y="2043286"/>
            <a:ext cx="4221327" cy="1990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1" i="0" dirty="0">
                <a:solidFill>
                  <a:srgbClr val="1F385C"/>
                </a:solidFill>
              </a:rPr>
              <a:t>Inductive</a:t>
            </a:r>
          </a:p>
          <a:p>
            <a:pPr algn="l">
              <a:spcAft>
                <a:spcPts val="1800"/>
              </a:spcAft>
            </a:pPr>
            <a:r>
              <a:rPr sz="1300" b="0" i="0" dirty="0">
                <a:solidFill>
                  <a:srgbClr val="55606B"/>
                </a:solidFill>
              </a:rPr>
              <a:t>(</a:t>
            </a:r>
            <a:r>
              <a:rPr sz="1300" b="0" i="0" dirty="0" err="1">
                <a:solidFill>
                  <a:srgbClr val="55606B"/>
                </a:solidFill>
              </a:rPr>
              <a:t>GraphSAGE</a:t>
            </a:r>
            <a:r>
              <a:rPr sz="1300" b="0" i="0" dirty="0">
                <a:solidFill>
                  <a:srgbClr val="55606B"/>
                </a:solidFill>
              </a:rPr>
              <a:t>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Learns a </a:t>
            </a:r>
            <a:r>
              <a:rPr sz="1400" b="1" i="0" dirty="0">
                <a:solidFill>
                  <a:srgbClr val="1F385C"/>
                </a:solidFill>
              </a:rPr>
              <a:t>function</a:t>
            </a:r>
            <a:r>
              <a:rPr sz="1400" b="0" i="0" dirty="0">
                <a:solidFill>
                  <a:srgbClr val="262B33"/>
                </a:solidFill>
              </a:rPr>
              <a:t> over local neighborhoods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Same function applies to brand</a:t>
            </a:r>
            <a:r>
              <a:rPr lang="it-IT" sz="1400" b="0" i="0" dirty="0">
                <a:solidFill>
                  <a:srgbClr val="262B33"/>
                </a:solidFill>
              </a:rPr>
              <a:t> </a:t>
            </a:r>
            <a:r>
              <a:rPr sz="1400" b="0" i="0" dirty="0">
                <a:solidFill>
                  <a:srgbClr val="262B33"/>
                </a:solidFill>
              </a:rPr>
              <a:t>new nodes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Works on unseen nodes, even unseen graphs</a:t>
            </a:r>
          </a:p>
        </p:txBody>
      </p:sp>
      <p:sp>
        <p:nvSpPr>
          <p:cNvPr id="8" name="Oval 7"/>
          <p:cNvSpPr/>
          <p:nvPr/>
        </p:nvSpPr>
        <p:spPr>
          <a:xfrm>
            <a:off x="5812383" y="2939796"/>
            <a:ext cx="566928" cy="566928"/>
          </a:xfrm>
          <a:prstGeom prst="ellipse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983479"/>
            <a:ext cx="10820095" cy="777240"/>
          </a:xfrm>
          <a:prstGeom prst="roundRect">
            <a:avLst>
              <a:gd name="adj" fmla="val 6000"/>
            </a:avLst>
          </a:prstGeom>
          <a:solidFill>
            <a:srgbClr val="E9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38080" y="5248988"/>
            <a:ext cx="891553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dirty="0">
                <a:solidFill>
                  <a:srgbClr val="1F385C"/>
                </a:solidFill>
              </a:rPr>
              <a:t>Thesis:  </a:t>
            </a:r>
            <a:r>
              <a:rPr sz="1600" b="0" i="0" dirty="0">
                <a:solidFill>
                  <a:srgbClr val="262B33"/>
                </a:solidFill>
              </a:rPr>
              <a:t>an inductive, neighborhood</a:t>
            </a:r>
            <a:r>
              <a:rPr lang="it-IT" sz="1600" b="0" i="0" dirty="0">
                <a:solidFill>
                  <a:srgbClr val="262B33"/>
                </a:solidFill>
              </a:rPr>
              <a:t> </a:t>
            </a:r>
            <a:r>
              <a:rPr sz="1600" b="0" i="0" dirty="0">
                <a:solidFill>
                  <a:srgbClr val="262B33"/>
                </a:solidFill>
              </a:rPr>
              <a:t>aggregating function generalizes where a per</a:t>
            </a:r>
            <a:r>
              <a:rPr lang="it-IT" sz="1600" b="0" i="0" dirty="0">
                <a:solidFill>
                  <a:srgbClr val="262B33"/>
                </a:solidFill>
              </a:rPr>
              <a:t> </a:t>
            </a:r>
            <a:r>
              <a:rPr sz="1600" b="0" i="0" dirty="0">
                <a:solidFill>
                  <a:srgbClr val="262B33"/>
                </a:solidFill>
              </a:rPr>
              <a:t>node lookup table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03 ·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Algorithm 1: Sample → Aggregate → 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0578"/>
            <a:ext cx="7073348" cy="8818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Sample</a:t>
            </a:r>
            <a:r>
              <a:rPr sz="1300" b="0" i="0" dirty="0">
                <a:solidFill>
                  <a:srgbClr val="262B33"/>
                </a:solidFill>
              </a:rPr>
              <a:t>: fixed size neighborhood N(v), redrawn every iteration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Aggregate + combine</a:t>
            </a:r>
            <a:r>
              <a:rPr sz="1300" b="0" i="0" dirty="0">
                <a:solidFill>
                  <a:srgbClr val="262B33"/>
                </a:solidFill>
              </a:rPr>
              <a:t>: </a:t>
            </a:r>
            <a:r>
              <a:rPr sz="1300" b="0" i="1" dirty="0">
                <a:solidFill>
                  <a:srgbClr val="262B33"/>
                </a:solidFill>
              </a:rPr>
              <a:t>h</a:t>
            </a:r>
            <a:r>
              <a:rPr sz="1300" b="0" i="1" baseline="-25000" dirty="0">
                <a:solidFill>
                  <a:srgbClr val="262B33"/>
                </a:solidFill>
              </a:rPr>
              <a:t>v</a:t>
            </a:r>
            <a:r>
              <a:rPr sz="1300" b="0" i="1" baseline="30000" dirty="0">
                <a:solidFill>
                  <a:srgbClr val="262B33"/>
                </a:solidFill>
              </a:rPr>
              <a:t>k</a:t>
            </a:r>
            <a:r>
              <a:rPr sz="1300" b="0" i="0" dirty="0">
                <a:solidFill>
                  <a:srgbClr val="262B33"/>
                </a:solidFill>
              </a:rPr>
              <a:t> = σ(</a:t>
            </a:r>
            <a:r>
              <a:rPr sz="1300" b="0" i="1" dirty="0">
                <a:solidFill>
                  <a:srgbClr val="262B33"/>
                </a:solidFill>
              </a:rPr>
              <a:t>W</a:t>
            </a:r>
            <a:r>
              <a:rPr sz="1300" b="0" i="1" baseline="30000" dirty="0">
                <a:solidFill>
                  <a:srgbClr val="262B33"/>
                </a:solidFill>
              </a:rPr>
              <a:t>k</a:t>
            </a:r>
            <a:r>
              <a:rPr sz="1300" b="0" i="0" dirty="0">
                <a:solidFill>
                  <a:srgbClr val="262B33"/>
                </a:solidFill>
              </a:rPr>
              <a:t> · CONCAT(</a:t>
            </a:r>
            <a:r>
              <a:rPr sz="1300" b="0" i="1" dirty="0">
                <a:solidFill>
                  <a:srgbClr val="262B33"/>
                </a:solidFill>
              </a:rPr>
              <a:t>h</a:t>
            </a:r>
            <a:r>
              <a:rPr sz="1300" b="0" i="1" baseline="-25000" dirty="0">
                <a:solidFill>
                  <a:srgbClr val="262B33"/>
                </a:solidFill>
              </a:rPr>
              <a:t>v</a:t>
            </a:r>
            <a:r>
              <a:rPr sz="1300" b="0" i="1" baseline="30000" dirty="0">
                <a:solidFill>
                  <a:srgbClr val="262B33"/>
                </a:solidFill>
              </a:rPr>
              <a:t>k−1</a:t>
            </a:r>
            <a:r>
              <a:rPr sz="1300" b="0" i="0" dirty="0">
                <a:solidFill>
                  <a:srgbClr val="262B33"/>
                </a:solidFill>
              </a:rPr>
              <a:t>, </a:t>
            </a:r>
            <a:r>
              <a:rPr sz="1300" b="0" i="1" dirty="0">
                <a:solidFill>
                  <a:srgbClr val="262B33"/>
                </a:solidFill>
              </a:rPr>
              <a:t>h</a:t>
            </a:r>
            <a:r>
              <a:rPr sz="1300" b="0" i="0" baseline="-25000" dirty="0">
                <a:solidFill>
                  <a:srgbClr val="262B33"/>
                </a:solidFill>
              </a:rPr>
              <a:t>N(v)</a:t>
            </a:r>
            <a:r>
              <a:rPr sz="1300" b="0" i="1" baseline="30000" dirty="0">
                <a:solidFill>
                  <a:srgbClr val="262B33"/>
                </a:solidFill>
              </a:rPr>
              <a:t>k</a:t>
            </a:r>
            <a:r>
              <a:rPr sz="1300" b="0" i="0" dirty="0">
                <a:solidFill>
                  <a:srgbClr val="262B33"/>
                </a:solidFill>
              </a:rPr>
              <a:t>)), then unit-normalize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0" i="0" dirty="0">
                <a:solidFill>
                  <a:srgbClr val="262B33"/>
                </a:solidFill>
              </a:rPr>
              <a:t>Repeat for k = 1...K hops → final embedding </a:t>
            </a:r>
            <a:r>
              <a:rPr sz="1300" b="0" i="1" dirty="0">
                <a:solidFill>
                  <a:srgbClr val="262B33"/>
                </a:solidFill>
              </a:rPr>
              <a:t>z</a:t>
            </a:r>
            <a:r>
              <a:rPr sz="1300" b="0" i="1" baseline="-25000" dirty="0">
                <a:solidFill>
                  <a:srgbClr val="262B33"/>
                </a:solidFill>
              </a:rPr>
              <a:t>v</a:t>
            </a:r>
            <a:r>
              <a:rPr sz="1300" b="0" i="0" dirty="0">
                <a:solidFill>
                  <a:srgbClr val="262B33"/>
                </a:solidFill>
              </a:rPr>
              <a:t> = </a:t>
            </a:r>
            <a:r>
              <a:rPr sz="1300" b="0" i="1" dirty="0">
                <a:solidFill>
                  <a:srgbClr val="262B33"/>
                </a:solidFill>
              </a:rPr>
              <a:t>h</a:t>
            </a:r>
            <a:r>
              <a:rPr sz="1300" b="0" i="1" baseline="-25000" dirty="0">
                <a:solidFill>
                  <a:srgbClr val="262B33"/>
                </a:solidFill>
              </a:rPr>
              <a:t>v</a:t>
            </a:r>
            <a:r>
              <a:rPr sz="1300" b="0" i="1" baseline="30000" dirty="0">
                <a:solidFill>
                  <a:srgbClr val="262B33"/>
                </a:solidFill>
              </a:rPr>
              <a:t>K</a:t>
            </a:r>
            <a:r>
              <a:rPr sz="1300" b="0" i="0" dirty="0">
                <a:solidFill>
                  <a:srgbClr val="262B33"/>
                </a:solidFill>
              </a:rPr>
              <a:t>   |   cost O(∏</a:t>
            </a:r>
            <a:r>
              <a:rPr sz="1300" b="0" i="1" dirty="0">
                <a:solidFill>
                  <a:srgbClr val="262B33"/>
                </a:solidFill>
              </a:rPr>
              <a:t>S</a:t>
            </a:r>
            <a:r>
              <a:rPr sz="1300" b="0" i="1" baseline="-25000" dirty="0">
                <a:solidFill>
                  <a:srgbClr val="262B33"/>
                </a:solidFill>
              </a:rPr>
              <a:t>i</a:t>
            </a:r>
            <a:r>
              <a:rPr sz="1300" b="0" i="0" dirty="0">
                <a:solidFill>
                  <a:srgbClr val="262B33"/>
                </a:solidFill>
              </a:rPr>
              <a:t>), independent of |V|</a:t>
            </a:r>
          </a:p>
        </p:txBody>
      </p:sp>
      <p:pic>
        <p:nvPicPr>
          <p:cNvPr id="5" name="Picture 4" descr="slide04_img1.png"/>
          <p:cNvPicPr>
            <a:picLocks noChangeAspect="1"/>
          </p:cNvPicPr>
          <p:nvPr/>
        </p:nvPicPr>
        <p:blipFill>
          <a:blip r:embed="rId2"/>
          <a:srcRect t="8729"/>
          <a:stretch>
            <a:fillRect/>
          </a:stretch>
        </p:blipFill>
        <p:spPr>
          <a:xfrm>
            <a:off x="1601762" y="2546749"/>
            <a:ext cx="8981846" cy="36860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40395" y="6363787"/>
            <a:ext cx="4304584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 i="1" dirty="0">
                <a:solidFill>
                  <a:srgbClr val="55606B"/>
                </a:solidFill>
              </a:rPr>
              <a:t>K = |V|, identity weights, and a hash-like (injective) aggregator ⇔ exactly the </a:t>
            </a:r>
            <a:r>
              <a:rPr sz="1050" b="1" i="1" dirty="0" err="1">
                <a:solidFill>
                  <a:srgbClr val="55606B"/>
                </a:solidFill>
              </a:rPr>
              <a:t>Weisfeiler</a:t>
            </a:r>
            <a:r>
              <a:rPr sz="1050" b="1" i="1" dirty="0">
                <a:solidFill>
                  <a:srgbClr val="55606B"/>
                </a:solidFill>
              </a:rPr>
              <a:t>-Lehman</a:t>
            </a:r>
            <a:r>
              <a:rPr sz="1050" b="0" i="1" dirty="0">
                <a:solidFill>
                  <a:srgbClr val="55606B"/>
                </a:solidFill>
              </a:rPr>
              <a:t> isomorphism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03 ·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1F385C"/>
                </a:solidFill>
              </a:rPr>
              <a:t>Algorithm 2 — Minibatch Forward Propagation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8483" y="1456422"/>
            <a:ext cx="10820095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dirty="0">
                <a:solidFill>
                  <a:srgbClr val="1F385C"/>
                </a:solidFill>
              </a:rPr>
              <a:t>Input: </a:t>
            </a:r>
            <a:r>
              <a:rPr sz="1200" b="0" i="0" dirty="0">
                <a:solidFill>
                  <a:srgbClr val="262B33"/>
                </a:solidFill>
              </a:rPr>
              <a:t>G(V,E), {</a:t>
            </a:r>
            <a:r>
              <a:rPr sz="1200" b="0" i="1" dirty="0">
                <a:solidFill>
                  <a:srgbClr val="262B33"/>
                </a:solidFill>
              </a:rPr>
              <a:t>x</a:t>
            </a:r>
            <a:r>
              <a:rPr sz="1200" b="0" i="1" baseline="-25000" dirty="0">
                <a:solidFill>
                  <a:srgbClr val="262B33"/>
                </a:solidFill>
              </a:rPr>
              <a:t>v</a:t>
            </a:r>
            <a:r>
              <a:rPr sz="1200" b="0" i="0" dirty="0">
                <a:solidFill>
                  <a:srgbClr val="262B33"/>
                </a:solidFill>
              </a:rPr>
              <a:t>}, depth </a:t>
            </a:r>
            <a:r>
              <a:rPr sz="1200" b="0" i="1" dirty="0">
                <a:solidFill>
                  <a:srgbClr val="262B33"/>
                </a:solidFill>
              </a:rPr>
              <a:t>K</a:t>
            </a:r>
            <a:r>
              <a:rPr sz="1200" b="0" i="0" dirty="0">
                <a:solidFill>
                  <a:srgbClr val="262B33"/>
                </a:solidFill>
              </a:rPr>
              <a:t>, {</a:t>
            </a:r>
            <a:r>
              <a:rPr sz="1200" b="0" i="1" dirty="0">
                <a:solidFill>
                  <a:srgbClr val="262B33"/>
                </a:solidFill>
              </a:rPr>
              <a:t>W</a:t>
            </a:r>
            <a:r>
              <a:rPr sz="1200" b="0" i="1" baseline="30000" dirty="0">
                <a:solidFill>
                  <a:srgbClr val="262B33"/>
                </a:solidFill>
              </a:rPr>
              <a:t>k</a:t>
            </a:r>
            <a:r>
              <a:rPr sz="1200" b="0" i="0" dirty="0">
                <a:solidFill>
                  <a:srgbClr val="262B33"/>
                </a:solidFill>
              </a:rPr>
              <a:t>}, σ, {AGGREGATE</a:t>
            </a:r>
            <a:r>
              <a:rPr sz="1200" b="0" i="1" baseline="-25000" dirty="0">
                <a:solidFill>
                  <a:srgbClr val="262B33"/>
                </a:solidFill>
              </a:rPr>
              <a:t>k</a:t>
            </a:r>
            <a:r>
              <a:rPr sz="1200" b="0" i="0" dirty="0">
                <a:solidFill>
                  <a:srgbClr val="262B33"/>
                </a:solidFill>
              </a:rPr>
              <a:t>}, {</a:t>
            </a:r>
            <a:r>
              <a:rPr sz="1200" b="0" i="1" dirty="0">
                <a:solidFill>
                  <a:srgbClr val="262B33"/>
                </a:solidFill>
              </a:rPr>
              <a:t>N</a:t>
            </a:r>
            <a:r>
              <a:rPr sz="1200" b="0" i="1" baseline="-25000" dirty="0">
                <a:solidFill>
                  <a:srgbClr val="262B33"/>
                </a:solidFill>
              </a:rPr>
              <a:t>k</a:t>
            </a:r>
            <a:r>
              <a:rPr sz="1200" b="0" i="0" dirty="0">
                <a:solidFill>
                  <a:srgbClr val="262B33"/>
                </a:solidFill>
              </a:rPr>
              <a:t>: v→2</a:t>
            </a:r>
            <a:r>
              <a:rPr sz="1200" b="0" i="0" baseline="30000" dirty="0">
                <a:solidFill>
                  <a:srgbClr val="262B33"/>
                </a:solidFill>
              </a:rPr>
              <a:t>V</a:t>
            </a:r>
            <a:r>
              <a:rPr sz="1200" b="0" i="0" dirty="0">
                <a:solidFill>
                  <a:srgbClr val="262B33"/>
                </a:solidFill>
              </a:rPr>
              <a:t>} — for k=1,...,K</a:t>
            </a:r>
          </a:p>
          <a:p>
            <a:pPr algn="l"/>
            <a:r>
              <a:rPr sz="1200" b="1" i="0" dirty="0">
                <a:solidFill>
                  <a:srgbClr val="1F385C"/>
                </a:solidFill>
              </a:rPr>
              <a:t>Output: </a:t>
            </a:r>
            <a:r>
              <a:rPr sz="1200" b="0" i="1" dirty="0">
                <a:solidFill>
                  <a:srgbClr val="262B33"/>
                </a:solidFill>
              </a:rPr>
              <a:t>embedding z</a:t>
            </a:r>
            <a:r>
              <a:rPr sz="1200" b="0" i="1" baseline="-25000" dirty="0">
                <a:solidFill>
                  <a:srgbClr val="262B33"/>
                </a:solidFill>
              </a:rPr>
              <a:t>u</a:t>
            </a:r>
            <a:r>
              <a:rPr sz="1200" b="0" i="0" dirty="0">
                <a:solidFill>
                  <a:srgbClr val="262B33"/>
                </a:solidFill>
              </a:rPr>
              <a:t>, ∀u∈B</a:t>
            </a:r>
          </a:p>
        </p:txBody>
      </p:sp>
      <p:sp>
        <p:nvSpPr>
          <p:cNvPr id="9001" name="pill"/>
          <p:cNvSpPr/>
          <p:nvPr/>
        </p:nvSpPr>
        <p:spPr>
          <a:xfrm>
            <a:off x="678485" y="2046024"/>
            <a:ext cx="6800000" cy="380000"/>
          </a:xfrm>
          <a:prstGeom prst="roundRect">
            <a:avLst>
              <a:gd name="adj" fmla="val 50000"/>
            </a:avLst>
          </a:prstGeom>
          <a:solidFill>
            <a:srgbClr val="8A3D15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PHASE 1 — BACKWARD SAMPLING (lines 1–7)</a:t>
            </a:r>
          </a:p>
        </p:txBody>
      </p:sp>
      <p:sp>
        <p:nvSpPr>
          <p:cNvPr id="9003" name="bar"/>
          <p:cNvSpPr/>
          <p:nvPr/>
        </p:nvSpPr>
        <p:spPr>
          <a:xfrm>
            <a:off x="678485" y="2516024"/>
            <a:ext cx="30000" cy="2100000"/>
          </a:xfrm>
          <a:prstGeom prst="rect">
            <a:avLst/>
          </a:prstGeom>
          <a:solidFill>
            <a:srgbClr val="8A3D1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4" name="TextBox 9003"/>
          <p:cNvSpPr txBox="1"/>
          <p:nvPr/>
        </p:nvSpPr>
        <p:spPr>
          <a:xfrm>
            <a:off x="898485" y="2516024"/>
            <a:ext cx="10600095" cy="2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1: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B</a:t>
            </a:r>
            <a:r>
              <a:rPr sz="1150" b="0" i="1" dirty="0">
                <a:solidFill>
                  <a:srgbClr val="6B7280"/>
                </a:solidFill>
              </a:rPr>
              <a:t>   start from the target minibatch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2: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for k = K,...,1 do</a:t>
            </a:r>
            <a:r>
              <a:rPr sz="1150" b="0" i="1" dirty="0">
                <a:solidFill>
                  <a:srgbClr val="6B7280"/>
                </a:solidFill>
              </a:rPr>
              <a:t>   expand outward, hop by hop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3: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4:  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for u ∈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do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5:  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∪ N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(u)</a:t>
            </a:r>
            <a:r>
              <a:rPr sz="1150" b="0" i="1" dirty="0">
                <a:solidFill>
                  <a:srgbClr val="6B7280"/>
                </a:solidFill>
              </a:rPr>
              <a:t>   add u's sampled neighbors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6:  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end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7: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end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693485" y="4706024"/>
            <a:ext cx="10820095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1" dirty="0">
                <a:solidFill>
                  <a:srgbClr val="1F385C"/>
                </a:solidFill>
              </a:rPr>
              <a:t>Counterintuitive: </a:t>
            </a:r>
            <a:r>
              <a:rPr sz="1150" b="0" i="1" dirty="0">
                <a:solidFill>
                  <a:srgbClr val="6B7280"/>
                </a:solidFill>
              </a:rPr>
              <a:t>indices 1, 2 track Algorithm 1's hop order, not distance from the target.</a:t>
            </a:r>
          </a:p>
        </p:txBody>
      </p:sp>
      <p:sp>
        <p:nvSpPr>
          <p:cNvPr id="9002" name="card"/>
          <p:cNvSpPr/>
          <p:nvPr/>
        </p:nvSpPr>
        <p:spPr>
          <a:xfrm>
            <a:off x="678485" y="5238911"/>
            <a:ext cx="10820095" cy="52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91440" rIns="182880" bIns="91440" anchor="ctr"/>
          <a:lstStyle/>
          <a:p>
            <a:pPr algn="l"/>
            <a:r>
              <a:rPr sz="1200" b="1" i="0" dirty="0">
                <a:solidFill>
                  <a:srgbClr val="1F385C"/>
                </a:solidFill>
              </a:rPr>
              <a:t>This project: </a:t>
            </a:r>
            <a:r>
              <a:rPr sz="1200" b="0" i="1" dirty="0">
                <a:solidFill>
                  <a:srgbClr val="262B33"/>
                </a:solidFill>
              </a:rPr>
              <a:t>K=2, S</a:t>
            </a:r>
            <a:r>
              <a:rPr sz="1200" b="0" i="0" baseline="-25000" dirty="0">
                <a:solidFill>
                  <a:srgbClr val="262B33"/>
                </a:solidFill>
              </a:rPr>
              <a:t>1</a:t>
            </a:r>
            <a:r>
              <a:rPr sz="1200" b="0" i="1" dirty="0">
                <a:solidFill>
                  <a:srgbClr val="262B33"/>
                </a:solidFill>
              </a:rPr>
              <a:t>=25, S</a:t>
            </a:r>
            <a:r>
              <a:rPr sz="1200" b="0" i="0" baseline="-25000" dirty="0">
                <a:solidFill>
                  <a:srgbClr val="262B33"/>
                </a:solidFill>
              </a:rPr>
              <a:t>2</a:t>
            </a:r>
            <a:r>
              <a:rPr sz="1200" b="0" i="0" dirty="0">
                <a:solidFill>
                  <a:srgbClr val="262B33"/>
                </a:solidFill>
              </a:rPr>
              <a:t>=10 → S</a:t>
            </a:r>
            <a:r>
              <a:rPr sz="1200" b="0" i="0" baseline="-25000" dirty="0">
                <a:solidFill>
                  <a:srgbClr val="262B33"/>
                </a:solidFill>
              </a:rPr>
              <a:t>2</a:t>
            </a:r>
            <a:r>
              <a:rPr sz="1200" b="0" i="0" dirty="0">
                <a:solidFill>
                  <a:srgbClr val="262B33"/>
                </a:solidFill>
              </a:rPr>
              <a:t>=10 direct neighbors + S</a:t>
            </a:r>
            <a:r>
              <a:rPr sz="1200" b="0" i="0" baseline="-25000" dirty="0">
                <a:solidFill>
                  <a:srgbClr val="262B33"/>
                </a:solidFill>
              </a:rPr>
              <a:t>1</a:t>
            </a:r>
            <a:r>
              <a:rPr sz="1200" b="0" i="0" dirty="0">
                <a:solidFill>
                  <a:srgbClr val="262B33"/>
                </a:solidFill>
              </a:rPr>
              <a:t>·S</a:t>
            </a:r>
            <a:r>
              <a:rPr sz="1200" b="0" i="0" baseline="-25000" dirty="0">
                <a:solidFill>
                  <a:srgbClr val="262B33"/>
                </a:solidFill>
              </a:rPr>
              <a:t>2</a:t>
            </a:r>
            <a:r>
              <a:rPr sz="1200" b="0" i="0" dirty="0">
                <a:solidFill>
                  <a:srgbClr val="262B33"/>
                </a:solidFill>
              </a:rPr>
              <a:t>=250 two</a:t>
            </a:r>
            <a:r>
              <a:rPr lang="it-IT" sz="1200" b="0" i="0" dirty="0">
                <a:solidFill>
                  <a:srgbClr val="262B33"/>
                </a:solidFill>
              </a:rPr>
              <a:t> </a:t>
            </a:r>
            <a:r>
              <a:rPr sz="1200" b="0" i="0" dirty="0">
                <a:solidFill>
                  <a:srgbClr val="262B33"/>
                </a:solidFill>
              </a:rPr>
              <a:t>hop neighbors sampled per target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2B33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03 ·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1F385C"/>
                </a:solidFill>
              </a:rPr>
              <a:t>Algorithm 2 — Minibatch Forward Propagation (2/2)</a:t>
            </a:r>
          </a:p>
        </p:txBody>
      </p:sp>
      <p:sp>
        <p:nvSpPr>
          <p:cNvPr id="9001" name="pill"/>
          <p:cNvSpPr/>
          <p:nvPr/>
        </p:nvSpPr>
        <p:spPr>
          <a:xfrm>
            <a:off x="685800" y="1534660"/>
            <a:ext cx="7200000" cy="380000"/>
          </a:xfrm>
          <a:prstGeom prst="roundRect">
            <a:avLst>
              <a:gd name="adj" fmla="val 50000"/>
            </a:avLst>
          </a:prstGeom>
          <a:solidFill>
            <a:srgbClr val="0B6B47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PHASE 2 — FORWARD AGGREGATION (lines 8–16)</a:t>
            </a:r>
          </a:p>
        </p:txBody>
      </p:sp>
      <p:sp>
        <p:nvSpPr>
          <p:cNvPr id="9003" name="bar"/>
          <p:cNvSpPr/>
          <p:nvPr/>
        </p:nvSpPr>
        <p:spPr>
          <a:xfrm>
            <a:off x="685800" y="2004660"/>
            <a:ext cx="30000" cy="2700000"/>
          </a:xfrm>
          <a:prstGeom prst="rect">
            <a:avLst/>
          </a:prstGeom>
          <a:solidFill>
            <a:srgbClr val="0B6B4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4" name="TextBox 9003"/>
          <p:cNvSpPr txBox="1"/>
          <p:nvPr/>
        </p:nvSpPr>
        <p:spPr>
          <a:xfrm>
            <a:off x="905800" y="2004660"/>
            <a:ext cx="10600095" cy="2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 8: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0" baseline="30000" dirty="0">
                <a:solidFill>
                  <a:srgbClr val="262B33"/>
                </a:solidFill>
                <a:latin typeface="Consolas"/>
              </a:rPr>
              <a:t>0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x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, ∀u ∈ B</a:t>
            </a:r>
            <a:r>
              <a:rPr sz="1150" b="0" i="0" baseline="30000" dirty="0">
                <a:solidFill>
                  <a:srgbClr val="262B33"/>
                </a:solidFill>
                <a:latin typeface="Consolas"/>
              </a:rPr>
              <a:t>0</a:t>
            </a:r>
            <a:r>
              <a:rPr sz="1150" b="0" i="1" dirty="0">
                <a:solidFill>
                  <a:srgbClr val="6B7280"/>
                </a:solidFill>
              </a:rPr>
              <a:t>   leaf nodes start from raw features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 9: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for k = 1,...,K do</a:t>
            </a:r>
            <a:r>
              <a:rPr sz="1150" b="0" i="1" dirty="0">
                <a:solidFill>
                  <a:srgbClr val="6B7280"/>
                </a:solidFill>
              </a:rPr>
              <a:t>   now aggregate back inward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10:  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for u ∈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do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11:  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h</a:t>
            </a:r>
            <a:r>
              <a:rPr sz="1150" b="0" i="0" baseline="-25000" dirty="0">
                <a:solidFill>
                  <a:srgbClr val="262B33"/>
                </a:solidFill>
                <a:latin typeface="Consolas"/>
              </a:rPr>
              <a:t>N(u)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AGGREGATE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({h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u′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: u′∈N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(u)})</a:t>
            </a:r>
            <a:r>
              <a:rPr sz="1150" b="0" i="1" dirty="0">
                <a:solidFill>
                  <a:srgbClr val="6B7280"/>
                </a:solidFill>
              </a:rPr>
              <a:t>   aggregate sampled neighbors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12:  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σ(W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·CONCAT(h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, h</a:t>
            </a:r>
            <a:r>
              <a:rPr sz="1150" b="0" i="0" baseline="-25000" dirty="0">
                <a:solidFill>
                  <a:srgbClr val="262B33"/>
                </a:solidFill>
                <a:latin typeface="Consolas"/>
              </a:rPr>
              <a:t>N(u)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))</a:t>
            </a:r>
            <a:r>
              <a:rPr sz="1150" b="0" i="1" dirty="0">
                <a:solidFill>
                  <a:srgbClr val="6B7280"/>
                </a:solidFill>
              </a:rPr>
              <a:t>   combine with self, learned transform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13:  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end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14: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/ ‖h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‖</a:t>
            </a:r>
            <a:r>
              <a:rPr sz="1150" b="0" i="0" baseline="-25000" dirty="0">
                <a:solidFill>
                  <a:srgbClr val="262B33"/>
                </a:solidFill>
                <a:latin typeface="Consolas"/>
              </a:rPr>
              <a:t>2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, ∀u ∈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1" dirty="0">
                <a:solidFill>
                  <a:srgbClr val="6B7280"/>
                </a:solidFill>
              </a:rPr>
              <a:t>   unit-normalize before next hop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15: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end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16: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z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, ∀u ∈ B</a:t>
            </a:r>
            <a:r>
              <a:rPr sz="1150" b="0" i="1" dirty="0">
                <a:solidFill>
                  <a:srgbClr val="6B7280"/>
                </a:solidFill>
              </a:rPr>
              <a:t>   final embedding after K hops</a:t>
            </a:r>
          </a:p>
        </p:txBody>
      </p:sp>
      <p:sp>
        <p:nvSpPr>
          <p:cNvPr id="9002" name="card"/>
          <p:cNvSpPr/>
          <p:nvPr/>
        </p:nvSpPr>
        <p:spPr>
          <a:xfrm>
            <a:off x="685952" y="4921828"/>
            <a:ext cx="10820095" cy="62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91440" rIns="182880" bIns="91440" anchor="ctr"/>
          <a:lstStyle/>
          <a:p>
            <a:pPr algn="l"/>
            <a:r>
              <a:rPr sz="1200" b="1" i="0" dirty="0">
                <a:solidFill>
                  <a:srgbClr val="1F385C"/>
                </a:solidFill>
              </a:rPr>
              <a:t>This project: </a:t>
            </a:r>
            <a:r>
              <a:rPr sz="1200" b="0" i="0" dirty="0">
                <a:solidFill>
                  <a:srgbClr val="262B33"/>
                </a:solidFill>
              </a:rPr>
              <a:t>batch</a:t>
            </a:r>
            <a:r>
              <a:rPr lang="it-IT" sz="1200" b="0" i="0" dirty="0">
                <a:solidFill>
                  <a:srgbClr val="262B33"/>
                </a:solidFill>
              </a:rPr>
              <a:t> </a:t>
            </a:r>
            <a:r>
              <a:rPr sz="1200" b="0" i="0" dirty="0">
                <a:solidFill>
                  <a:srgbClr val="262B33"/>
                </a:solidFill>
              </a:rPr>
              <a:t>size=512, hidden dim 128 (×2 when concatenated), 20 negative samples (unsupervised) — code follows lines 8–16 every step, but line 14’s normalize runs once on the final embedding, not every hop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2B33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04 ·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PPI — Protein-Protein Interaction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1322"/>
            <a:ext cx="4724247" cy="1696277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1870" y="2311509"/>
            <a:ext cx="4312767" cy="817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 dirty="0">
                <a:solidFill>
                  <a:srgbClr val="1F385C"/>
                </a:solidFill>
              </a:rPr>
              <a:t>24 graphs</a:t>
            </a:r>
          </a:p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5606B"/>
                </a:solidFill>
              </a:rPr>
              <a:t>20 train / 2 </a:t>
            </a:r>
            <a:r>
              <a:rPr sz="1400" b="0" i="0" dirty="0" err="1">
                <a:solidFill>
                  <a:srgbClr val="55606B"/>
                </a:solidFill>
              </a:rPr>
              <a:t>val</a:t>
            </a:r>
            <a:r>
              <a:rPr sz="1400" b="0" i="0" dirty="0">
                <a:solidFill>
                  <a:srgbClr val="55606B"/>
                </a:solidFill>
              </a:rPr>
              <a:t> / 2 test split: cross-graph generalization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70167" y="1961322"/>
            <a:ext cx="4724247" cy="1696277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75906" y="2311509"/>
            <a:ext cx="4312767" cy="817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 dirty="0">
                <a:solidFill>
                  <a:srgbClr val="1F385C"/>
                </a:solidFill>
              </a:rPr>
              <a:t>56,944 nodes</a:t>
            </a:r>
          </a:p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5606B"/>
                </a:solidFill>
              </a:rPr>
              <a:t>total, across all 24 graphs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1" y="4155881"/>
            <a:ext cx="4724246" cy="1696277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1539" y="4506068"/>
            <a:ext cx="4312767" cy="800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 dirty="0">
                <a:solidFill>
                  <a:srgbClr val="1F385C"/>
                </a:solidFill>
              </a:rPr>
              <a:t>121 GO terms</a:t>
            </a:r>
          </a:p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5606B"/>
                </a:solidFill>
              </a:rPr>
              <a:t>multi-label: a protein can have several functions at 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70167" y="4155881"/>
            <a:ext cx="4724247" cy="1696277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75906" y="4497444"/>
            <a:ext cx="4312767" cy="817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 dirty="0">
                <a:solidFill>
                  <a:srgbClr val="1F385C"/>
                </a:solidFill>
              </a:rPr>
              <a:t>50-dim features</a:t>
            </a:r>
          </a:p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5606B"/>
                </a:solidFill>
              </a:rPr>
              <a:t>positional/motif gene sets + immunological signatures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i="1" dirty="0">
                <a:solidFill>
                  <a:srgbClr val="55606B"/>
                </a:solidFill>
              </a:rPr>
              <a:t>Source: PPI dataset, http://snap.stanford.edu/graphsage/ppi.zip — Hamilton, Ying &amp; Leskovec (2017)</a:t>
            </a:r>
          </a:p>
        </p:txBody>
      </p:sp>
      <p:pic>
        <p:nvPicPr>
          <p:cNvPr id="14" name="Immagine 13" descr="DDMut-PPI | Home">
            <a:extLst>
              <a:ext uri="{FF2B5EF4-FFF2-40B4-BE49-F238E27FC236}">
                <a16:creationId xmlns:a16="http://schemas.microsoft.com/office/drawing/2014/main" id="{8702B70E-4F80-98A4-A0FB-8E4DD56E3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071" y="275049"/>
            <a:ext cx="1439450" cy="14394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3">
            <a:extLst>
              <a:ext uri="{FF2B5EF4-FFF2-40B4-BE49-F238E27FC236}">
                <a16:creationId xmlns:a16="http://schemas.microsoft.com/office/drawing/2014/main" id="{79CF9481-303C-AAD8-39A3-6F089145B2B3}"/>
              </a:ext>
            </a:extLst>
          </p:cNvPr>
          <p:cNvSpPr/>
          <p:nvPr/>
        </p:nvSpPr>
        <p:spPr>
          <a:xfrm>
            <a:off x="685800" y="1988820"/>
            <a:ext cx="4952847" cy="28803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05 · OBJECTIVE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Two ways to train the same encoder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015" y="2345808"/>
            <a:ext cx="3599441" cy="1754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1F385C"/>
                </a:solidFill>
              </a:rPr>
              <a:t>Unsupervised</a:t>
            </a:r>
          </a:p>
          <a:p>
            <a:pPr algn="l">
              <a:spcAft>
                <a:spcPts val="2000"/>
              </a:spcAft>
            </a:pPr>
            <a:r>
              <a:rPr sz="1300" b="0" i="0" dirty="0">
                <a:solidFill>
                  <a:srgbClr val="55606B"/>
                </a:solidFill>
              </a:rPr>
              <a:t>skip-gram style, Eq. 1</a:t>
            </a:r>
          </a:p>
          <a:p>
            <a:pPr algn="l">
              <a:spcAft>
                <a:spcPts val="1600"/>
              </a:spcAft>
            </a:pPr>
            <a:r>
              <a:rPr sz="1300" b="0" i="1" dirty="0">
                <a:solidFill>
                  <a:srgbClr val="1F385C"/>
                </a:solidFill>
              </a:rPr>
              <a:t>J</a:t>
            </a:r>
            <a:r>
              <a:rPr sz="1300" b="0" i="0" dirty="0">
                <a:solidFill>
                  <a:srgbClr val="1F385C"/>
                </a:solidFill>
              </a:rPr>
              <a:t>(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u</a:t>
            </a:r>
            <a:r>
              <a:rPr sz="1300" b="0" i="0" dirty="0">
                <a:solidFill>
                  <a:srgbClr val="1F385C"/>
                </a:solidFill>
              </a:rPr>
              <a:t>) = −log σ(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u</a:t>
            </a:r>
            <a:r>
              <a:rPr sz="1300" b="0" i="1" baseline="30000" dirty="0">
                <a:solidFill>
                  <a:srgbClr val="1F385C"/>
                </a:solidFill>
              </a:rPr>
              <a:t>T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v</a:t>
            </a:r>
            <a:r>
              <a:rPr sz="1300" b="0" i="0" dirty="0">
                <a:solidFill>
                  <a:srgbClr val="1F385C"/>
                </a:solidFill>
              </a:rPr>
              <a:t>) − </a:t>
            </a:r>
            <a:r>
              <a:rPr sz="1300" b="0" i="1" dirty="0">
                <a:solidFill>
                  <a:srgbClr val="1F385C"/>
                </a:solidFill>
              </a:rPr>
              <a:t>Q</a:t>
            </a:r>
            <a:r>
              <a:rPr sz="1300" b="0" i="0" dirty="0">
                <a:solidFill>
                  <a:srgbClr val="1F385C"/>
                </a:solidFill>
              </a:rPr>
              <a:t>·E[log σ(−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u</a:t>
            </a:r>
            <a:r>
              <a:rPr sz="1300" b="0" i="1" baseline="30000" dirty="0">
                <a:solidFill>
                  <a:srgbClr val="1F385C"/>
                </a:solidFill>
              </a:rPr>
              <a:t>T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vn</a:t>
            </a:r>
            <a:r>
              <a:rPr sz="1300" b="0" i="0" dirty="0">
                <a:solidFill>
                  <a:srgbClr val="1F385C"/>
                </a:solidFill>
              </a:rPr>
              <a:t>)]</a:t>
            </a:r>
          </a:p>
          <a:p>
            <a:pPr algn="l">
              <a:lnSpc>
                <a:spcPct val="125000"/>
              </a:lnSpc>
            </a:pPr>
            <a:r>
              <a:rPr sz="1300" b="0" i="0" dirty="0">
                <a:solidFill>
                  <a:srgbClr val="262B33"/>
                </a:solidFill>
              </a:rPr>
              <a:t>v co-occurs with u on a random walk; negatives sampled from </a:t>
            </a:r>
            <a:r>
              <a:rPr sz="1300" b="0" i="1" dirty="0">
                <a:solidFill>
                  <a:srgbClr val="262B33"/>
                </a:solidFill>
              </a:rPr>
              <a:t>P</a:t>
            </a:r>
            <a:r>
              <a:rPr sz="1300" b="0" i="1" baseline="-25000" dirty="0">
                <a:solidFill>
                  <a:srgbClr val="262B33"/>
                </a:solidFill>
              </a:rPr>
              <a:t>n</a:t>
            </a:r>
            <a:endParaRPr sz="1300" b="0" i="0" dirty="0">
              <a:solidFill>
                <a:srgbClr val="262B33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53048" y="1988821"/>
            <a:ext cx="4952847" cy="2880359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89044" y="2345808"/>
            <a:ext cx="3599441" cy="17768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2000" b="1" i="0" dirty="0">
                <a:solidFill>
                  <a:srgbClr val="1F385C"/>
                </a:solidFill>
              </a:rPr>
              <a:t>Supervised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0" i="0" dirty="0">
                <a:solidFill>
                  <a:srgbClr val="262B33"/>
                </a:solidFill>
              </a:rPr>
              <a:t>PPI is multi-label ⇒ per</a:t>
            </a:r>
            <a:r>
              <a:rPr lang="it-IT" sz="1300" b="0" i="0" dirty="0">
                <a:solidFill>
                  <a:srgbClr val="262B33"/>
                </a:solidFill>
              </a:rPr>
              <a:t> </a:t>
            </a:r>
            <a:r>
              <a:rPr sz="1300" b="0" i="0" dirty="0">
                <a:solidFill>
                  <a:srgbClr val="262B33"/>
                </a:solidFill>
              </a:rPr>
              <a:t>class sigmoid </a:t>
            </a:r>
            <a:r>
              <a:rPr sz="1300" b="0" i="1" dirty="0">
                <a:solidFill>
                  <a:srgbClr val="262B33"/>
                </a:solidFill>
              </a:rPr>
              <a:t>cross</a:t>
            </a:r>
            <a:r>
              <a:rPr lang="it-IT" sz="1300" b="0" i="1" dirty="0">
                <a:solidFill>
                  <a:srgbClr val="262B33"/>
                </a:solidFill>
              </a:rPr>
              <a:t> </a:t>
            </a:r>
            <a:r>
              <a:rPr sz="1300" b="0" i="1" dirty="0">
                <a:solidFill>
                  <a:srgbClr val="262B33"/>
                </a:solidFill>
              </a:rPr>
              <a:t>entropy</a:t>
            </a:r>
            <a:r>
              <a:rPr sz="1300" b="0" i="0" dirty="0">
                <a:solidFill>
                  <a:srgbClr val="262B33"/>
                </a:solidFill>
              </a:rPr>
              <a:t>, not </a:t>
            </a:r>
            <a:r>
              <a:rPr sz="1300" b="0" i="0" dirty="0" err="1">
                <a:solidFill>
                  <a:srgbClr val="262B33"/>
                </a:solidFill>
              </a:rPr>
              <a:t>softmax</a:t>
            </a:r>
            <a:endParaRPr sz="1300" b="0" i="0" dirty="0">
              <a:solidFill>
                <a:srgbClr val="262B33"/>
              </a:solidFill>
            </a:endParaRPr>
          </a:p>
          <a:p>
            <a:pPr algn="l">
              <a:lnSpc>
                <a:spcPct val="125000"/>
              </a:lnSpc>
            </a:pPr>
            <a:r>
              <a:rPr sz="1300" b="0" i="0" dirty="0">
                <a:solidFill>
                  <a:srgbClr val="262B33"/>
                </a:solidFill>
              </a:rPr>
              <a:t>Replaces (or complements) the unsupervised loss for the downstream task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8</a:t>
            </a:r>
          </a:p>
        </p:txBody>
      </p:sp>
      <p:sp>
        <p:nvSpPr>
          <p:cNvPr id="12" name="Oval 7">
            <a:extLst>
              <a:ext uri="{FF2B5EF4-FFF2-40B4-BE49-F238E27FC236}">
                <a16:creationId xmlns:a16="http://schemas.microsoft.com/office/drawing/2014/main" id="{F7D3ABF2-D9E7-9D81-2761-31FFCAC20D5E}"/>
              </a:ext>
            </a:extLst>
          </p:cNvPr>
          <p:cNvSpPr/>
          <p:nvPr/>
        </p:nvSpPr>
        <p:spPr>
          <a:xfrm>
            <a:off x="5812383" y="3145536"/>
            <a:ext cx="566928" cy="566928"/>
          </a:xfrm>
          <a:prstGeom prst="ellipse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it-IT" sz="1400" b="1" dirty="0">
                <a:solidFill>
                  <a:srgbClr val="FFFFFF"/>
                </a:solidFill>
              </a:rPr>
              <a:t>&amp;</a:t>
            </a:r>
            <a:endParaRPr sz="140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06 · AGGREGATOR ARCHITECTURES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Four ways to combine neighbor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2350"/>
            <a:ext cx="10820095" cy="8818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Mean / GCN</a:t>
            </a:r>
            <a:r>
              <a:rPr sz="1300" b="0" i="0" dirty="0">
                <a:solidFill>
                  <a:srgbClr val="262B33"/>
                </a:solidFill>
              </a:rPr>
              <a:t>: elementwise average of neighbors; GCN drops the self skip</a:t>
            </a:r>
            <a:r>
              <a:rPr lang="it-IT" sz="1300" b="0" i="0" dirty="0">
                <a:solidFill>
                  <a:srgbClr val="262B33"/>
                </a:solidFill>
              </a:rPr>
              <a:t> </a:t>
            </a:r>
            <a:r>
              <a:rPr sz="1300" b="0" i="0" dirty="0">
                <a:solidFill>
                  <a:srgbClr val="262B33"/>
                </a:solidFill>
              </a:rPr>
              <a:t>connection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GCN's width</a:t>
            </a:r>
            <a:r>
              <a:rPr sz="1300" b="0" i="0" dirty="0">
                <a:solidFill>
                  <a:srgbClr val="262B33"/>
                </a:solidFill>
              </a:rPr>
              <a:t>: doubled in code to match parameter counts with the concat aggregators</a:t>
            </a:r>
            <a:r>
              <a:rPr lang="it-IT" sz="1300" b="0" i="0" dirty="0">
                <a:solidFill>
                  <a:srgbClr val="262B33"/>
                </a:solidFill>
              </a:rPr>
              <a:t> —</a:t>
            </a:r>
            <a:r>
              <a:rPr sz="1300" b="0" i="0" dirty="0">
                <a:solidFill>
                  <a:srgbClr val="262B33"/>
                </a:solidFill>
              </a:rPr>
              <a:t> no skip connection to make up the difference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Pool</a:t>
            </a:r>
            <a:r>
              <a:rPr sz="1300" b="0" i="0" dirty="0">
                <a:solidFill>
                  <a:srgbClr val="262B33"/>
                </a:solidFill>
              </a:rPr>
              <a:t>: each neighbor through a shared MLP, then elementwise </a:t>
            </a:r>
            <a:r>
              <a:rPr sz="1300" b="1" i="0" dirty="0">
                <a:solidFill>
                  <a:srgbClr val="1F385C"/>
                </a:solidFill>
              </a:rPr>
              <a:t>max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LSTM</a:t>
            </a:r>
            <a:r>
              <a:rPr sz="1300" b="0" i="0" dirty="0">
                <a:solidFill>
                  <a:srgbClr val="262B33"/>
                </a:solidFill>
              </a:rPr>
              <a:t>: neighbors fed in </a:t>
            </a:r>
            <a:r>
              <a:rPr sz="1300" b="1" i="0" dirty="0">
                <a:solidFill>
                  <a:srgbClr val="1F385C"/>
                </a:solidFill>
              </a:rPr>
              <a:t>random order</a:t>
            </a:r>
            <a:r>
              <a:rPr sz="1300" b="0" i="0" dirty="0">
                <a:solidFill>
                  <a:srgbClr val="262B33"/>
                </a:solidFill>
              </a:rPr>
              <a:t>: not permutation</a:t>
            </a:r>
            <a:r>
              <a:rPr lang="it-IT" sz="1300" b="0" i="0" dirty="0">
                <a:solidFill>
                  <a:srgbClr val="262B33"/>
                </a:solidFill>
              </a:rPr>
              <a:t> </a:t>
            </a:r>
            <a:r>
              <a:rPr sz="1300" b="0" i="0" dirty="0">
                <a:solidFill>
                  <a:srgbClr val="262B33"/>
                </a:solidFill>
              </a:rPr>
              <a:t>invariant in theory, but strong in practice</a:t>
            </a:r>
          </a:p>
        </p:txBody>
      </p:sp>
      <p:pic>
        <p:nvPicPr>
          <p:cNvPr id="5" name="Picture 4" descr="slide07_img2.png"/>
          <p:cNvPicPr>
            <a:picLocks noChangeAspect="1"/>
          </p:cNvPicPr>
          <p:nvPr/>
        </p:nvPicPr>
        <p:blipFill>
          <a:blip r:embed="rId2"/>
          <a:srcRect t="4315"/>
          <a:stretch>
            <a:fillRect/>
          </a:stretch>
        </p:blipFill>
        <p:spPr>
          <a:xfrm>
            <a:off x="3148091" y="2711395"/>
            <a:ext cx="5895511" cy="36894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07 · THEORETICAL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Theorem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952" y="2240280"/>
            <a:ext cx="10896448" cy="20659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600"/>
              </a:spcAft>
            </a:pPr>
            <a:r>
              <a:rPr sz="1600" b="0" i="0" dirty="0">
                <a:solidFill>
                  <a:srgbClr val="1BAF7A"/>
                </a:solidFill>
              </a:rPr>
              <a:t>●   </a:t>
            </a:r>
            <a:r>
              <a:rPr sz="1600" b="0" i="0" dirty="0">
                <a:solidFill>
                  <a:srgbClr val="262B33"/>
                </a:solidFill>
              </a:rPr>
              <a:t>Given </a:t>
            </a:r>
            <a:r>
              <a:rPr sz="1600" b="1" i="0" dirty="0">
                <a:solidFill>
                  <a:srgbClr val="1F385C"/>
                </a:solidFill>
              </a:rPr>
              <a:t>sufficiently distinct</a:t>
            </a:r>
            <a:r>
              <a:rPr sz="1600" b="0" i="0" dirty="0">
                <a:solidFill>
                  <a:srgbClr val="262B33"/>
                </a:solidFill>
              </a:rPr>
              <a:t> node features, the </a:t>
            </a:r>
            <a:r>
              <a:rPr sz="1600" b="1" i="0" dirty="0">
                <a:solidFill>
                  <a:srgbClr val="1F385C"/>
                </a:solidFill>
              </a:rPr>
              <a:t>pooling</a:t>
            </a:r>
            <a:r>
              <a:rPr sz="1600" b="0" i="0" dirty="0">
                <a:solidFill>
                  <a:srgbClr val="262B33"/>
                </a:solidFill>
              </a:rPr>
              <a:t> aggregator with K=4 can approximate a node's </a:t>
            </a:r>
            <a:r>
              <a:rPr sz="1600" b="1" i="0" dirty="0">
                <a:solidFill>
                  <a:srgbClr val="1F385C"/>
                </a:solidFill>
              </a:rPr>
              <a:t>clustering coefficient</a:t>
            </a:r>
            <a:r>
              <a:rPr sz="1600" b="0" i="0" dirty="0">
                <a:solidFill>
                  <a:srgbClr val="262B33"/>
                </a:solidFill>
              </a:rPr>
              <a:t> to arbitrary precision</a:t>
            </a:r>
          </a:p>
          <a:p>
            <a:pPr algn="l">
              <a:lnSpc>
                <a:spcPct val="115000"/>
              </a:lnSpc>
              <a:spcAft>
                <a:spcPts val="2600"/>
              </a:spcAft>
            </a:pPr>
            <a:r>
              <a:rPr sz="1600" b="0" i="0" dirty="0">
                <a:solidFill>
                  <a:srgbClr val="1BAF7A"/>
                </a:solidFill>
              </a:rPr>
              <a:t>●   </a:t>
            </a:r>
            <a:r>
              <a:rPr sz="1600" b="0" i="0" dirty="0">
                <a:solidFill>
                  <a:srgbClr val="262B33"/>
                </a:solidFill>
              </a:rPr>
              <a:t>Proof idea: pooling + ≥2 hidden layers can learn a unique one</a:t>
            </a:r>
            <a:r>
              <a:rPr lang="it-IT" sz="1600" b="0" i="0" dirty="0">
                <a:solidFill>
                  <a:srgbClr val="262B33"/>
                </a:solidFill>
              </a:rPr>
              <a:t> </a:t>
            </a:r>
            <a:r>
              <a:rPr sz="1600" b="0" i="0" dirty="0">
                <a:solidFill>
                  <a:srgbClr val="262B33"/>
                </a:solidFill>
              </a:rPr>
              <a:t>hot indicator per neighbor, effectively “counting” like </a:t>
            </a:r>
            <a:r>
              <a:rPr sz="1600" b="0" i="0" dirty="0" err="1">
                <a:solidFill>
                  <a:srgbClr val="262B33"/>
                </a:solidFill>
              </a:rPr>
              <a:t>Weisfeiler</a:t>
            </a:r>
            <a:r>
              <a:rPr sz="1600" b="0" i="0" dirty="0">
                <a:solidFill>
                  <a:srgbClr val="262B33"/>
                </a:solidFill>
              </a:rPr>
              <a:t>-Lehman refinement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dirty="0">
                <a:solidFill>
                  <a:srgbClr val="1BAF7A"/>
                </a:solidFill>
              </a:rPr>
              <a:t>●   </a:t>
            </a:r>
            <a:r>
              <a:rPr sz="1600" b="1" i="0" dirty="0">
                <a:solidFill>
                  <a:srgbClr val="1F385C"/>
                </a:solidFill>
              </a:rPr>
              <a:t>Prediction</a:t>
            </a:r>
            <a:r>
              <a:rPr sz="1600" b="0" i="0" dirty="0">
                <a:solidFill>
                  <a:srgbClr val="262B33"/>
                </a:solidFill>
              </a:rPr>
              <a:t>: pool should degrade more gracefully than GCN when features are corrupted (tested empirically; see Results VI)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07 · THEORETICAL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 dirty="0">
                <a:solidFill>
                  <a:srgbClr val="1F385C"/>
                </a:solidFill>
              </a:rPr>
              <a:t>Proof of Theorem 1 — three lemmas, stacked</a:t>
            </a:r>
          </a:p>
        </p:txBody>
      </p:sp>
      <p:sp>
        <p:nvSpPr>
          <p:cNvPr id="9101" name="pill"/>
          <p:cNvSpPr/>
          <p:nvPr/>
        </p:nvSpPr>
        <p:spPr>
          <a:xfrm>
            <a:off x="685800" y="2456876"/>
            <a:ext cx="33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LEMMA 1</a:t>
            </a:r>
          </a:p>
        </p:txBody>
      </p:sp>
      <p:sp>
        <p:nvSpPr>
          <p:cNvPr id="9102" name="TextBox 9101"/>
          <p:cNvSpPr txBox="1"/>
          <p:nvPr/>
        </p:nvSpPr>
        <p:spPr>
          <a:xfrm>
            <a:off x="3985800" y="2456876"/>
            <a:ext cx="45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4" name="pill"/>
          <p:cNvSpPr/>
          <p:nvPr/>
        </p:nvSpPr>
        <p:spPr>
          <a:xfrm>
            <a:off x="4435800" y="2456876"/>
            <a:ext cx="3300000" cy="5500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LEMMA 2</a:t>
            </a:r>
          </a:p>
        </p:txBody>
      </p:sp>
      <p:sp>
        <p:nvSpPr>
          <p:cNvPr id="9103" name="TextBox 9102"/>
          <p:cNvSpPr txBox="1"/>
          <p:nvPr/>
        </p:nvSpPr>
        <p:spPr>
          <a:xfrm>
            <a:off x="7735800" y="2456876"/>
            <a:ext cx="45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5" name="pill"/>
          <p:cNvSpPr/>
          <p:nvPr/>
        </p:nvSpPr>
        <p:spPr>
          <a:xfrm>
            <a:off x="8185800" y="2456876"/>
            <a:ext cx="33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LEMMA 3</a:t>
            </a:r>
          </a:p>
        </p:txBody>
      </p:sp>
      <p:sp>
        <p:nvSpPr>
          <p:cNvPr id="9104" name="TextBox 9103"/>
          <p:cNvSpPr txBox="1"/>
          <p:nvPr/>
        </p:nvSpPr>
        <p:spPr>
          <a:xfrm>
            <a:off x="685800" y="3186876"/>
            <a:ext cx="3300000" cy="2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 i="0" dirty="0">
                <a:solidFill>
                  <a:srgbClr val="262B33"/>
                </a:solidFill>
              </a:rPr>
              <a:t>A continuous function can be built to fire only near a chosen set of points.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“A proximity detector for a specific group of nodes.”</a:t>
            </a:r>
          </a:p>
        </p:txBody>
      </p:sp>
      <p:sp>
        <p:nvSpPr>
          <p:cNvPr id="9105" name="TextBox 9104"/>
          <p:cNvSpPr txBox="1"/>
          <p:nvPr/>
        </p:nvSpPr>
        <p:spPr>
          <a:xfrm>
            <a:off x="4435800" y="3186876"/>
            <a:ext cx="3300000" cy="6001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 i="0" dirty="0">
                <a:solidFill>
                  <a:srgbClr val="262B33"/>
                </a:solidFill>
              </a:rPr>
              <a:t>Any such detector is approximable by a 1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hidden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layer MLP (Hornik's theorem).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“A neural net can learn that detector.”</a:t>
            </a:r>
          </a:p>
        </p:txBody>
      </p:sp>
      <p:sp>
        <p:nvSpPr>
          <p:cNvPr id="9106" name="TextBox 9105"/>
          <p:cNvSpPr txBox="1"/>
          <p:nvPr/>
        </p:nvSpPr>
        <p:spPr>
          <a:xfrm>
            <a:off x="8185800" y="3186876"/>
            <a:ext cx="3300000" cy="11464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 i="0" dirty="0">
                <a:solidFill>
                  <a:srgbClr val="262B33"/>
                </a:solidFill>
              </a:rPr>
              <a:t>≥2-hidden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layer pooling maps every node to a unique one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hot ID over its 2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hop neighborhood, given distinct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enough features.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“Stack enough detectors → every node gets its own ID badge — a continuous, learnable Weisfeiler-Lehman coloring.”</a:t>
            </a:r>
          </a:p>
        </p:txBody>
      </p:sp>
      <p:sp>
        <p:nvSpPr>
          <p:cNvPr id="9107" name="TextBox 9106"/>
          <p:cNvSpPr txBox="1"/>
          <p:nvPr/>
        </p:nvSpPr>
        <p:spPr>
          <a:xfrm>
            <a:off x="685800" y="5061876"/>
            <a:ext cx="10820095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dirty="0">
                <a:solidFill>
                  <a:srgbClr val="1F385C"/>
                </a:solidFill>
              </a:rPr>
              <a:t>→ Theorem 1 stacks four such layers to turn these ID badges into an exact clustering</a:t>
            </a:r>
            <a:r>
              <a:rPr lang="it-IT" sz="1350" b="1" i="0" dirty="0">
                <a:solidFill>
                  <a:srgbClr val="1F385C"/>
                </a:solidFill>
              </a:rPr>
              <a:t> </a:t>
            </a:r>
            <a:r>
              <a:rPr sz="1350" b="1" i="0" dirty="0">
                <a:solidFill>
                  <a:srgbClr val="1F385C"/>
                </a:solidFill>
              </a:rPr>
              <a:t>coefficient computation (next slide).</a:t>
            </a:r>
          </a:p>
        </p:txBody>
      </p:sp>
      <p:sp>
        <p:nvSpPr>
          <p:cNvPr id="9108" name="TextBox 9107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2B33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07 · THEORETICAL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 dirty="0">
                <a:solidFill>
                  <a:srgbClr val="1F385C"/>
                </a:solidFill>
              </a:rPr>
              <a:t>Proof of Theorem 1 — the K=4 construction</a:t>
            </a:r>
          </a:p>
        </p:txBody>
      </p:sp>
      <p:sp>
        <p:nvSpPr>
          <p:cNvPr id="9101" name="pill"/>
          <p:cNvSpPr/>
          <p:nvPr/>
        </p:nvSpPr>
        <p:spPr>
          <a:xfrm>
            <a:off x="685800" y="1873815"/>
            <a:ext cx="2400000" cy="5500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K=1 — unique ID</a:t>
            </a:r>
          </a:p>
        </p:txBody>
      </p:sp>
      <p:sp>
        <p:nvSpPr>
          <p:cNvPr id="9102" name="TextBox 9101"/>
          <p:cNvSpPr txBox="1"/>
          <p:nvPr/>
        </p:nvSpPr>
        <p:spPr>
          <a:xfrm>
            <a:off x="3085800" y="1873815"/>
            <a:ext cx="40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4" name="pill"/>
          <p:cNvSpPr/>
          <p:nvPr/>
        </p:nvSpPr>
        <p:spPr>
          <a:xfrm>
            <a:off x="3485800" y="1873815"/>
            <a:ext cx="24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K=2 — + own links</a:t>
            </a:r>
          </a:p>
        </p:txBody>
      </p:sp>
      <p:sp>
        <p:nvSpPr>
          <p:cNvPr id="9103" name="TextBox 9102"/>
          <p:cNvSpPr txBox="1"/>
          <p:nvPr/>
        </p:nvSpPr>
        <p:spPr>
          <a:xfrm>
            <a:off x="5885800" y="1873815"/>
            <a:ext cx="40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5" name="pill"/>
          <p:cNvSpPr/>
          <p:nvPr/>
        </p:nvSpPr>
        <p:spPr>
          <a:xfrm>
            <a:off x="6285800" y="1873815"/>
            <a:ext cx="2400000" cy="5500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K=3 — + neighbors'</a:t>
            </a:r>
          </a:p>
        </p:txBody>
      </p:sp>
      <p:sp>
        <p:nvSpPr>
          <p:cNvPr id="9104" name="TextBox 9103"/>
          <p:cNvSpPr txBox="1"/>
          <p:nvPr/>
        </p:nvSpPr>
        <p:spPr>
          <a:xfrm>
            <a:off x="8685800" y="1873815"/>
            <a:ext cx="40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6" name="pill"/>
          <p:cNvSpPr/>
          <p:nvPr/>
        </p:nvSpPr>
        <p:spPr>
          <a:xfrm>
            <a:off x="9085800" y="1873815"/>
            <a:ext cx="24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K=4 — finish (MLP)</a:t>
            </a:r>
          </a:p>
        </p:txBody>
      </p:sp>
      <p:sp>
        <p:nvSpPr>
          <p:cNvPr id="7" name="card"/>
          <p:cNvSpPr/>
          <p:nvPr/>
        </p:nvSpPr>
        <p:spPr>
          <a:xfrm>
            <a:off x="685800" y="2623815"/>
            <a:ext cx="10820095" cy="1750000"/>
          </a:xfrm>
          <a:prstGeom prst="roundRect">
            <a:avLst>
              <a:gd name="adj" fmla="val 3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91440" rIns="182880" bIns="91440" anchor="ctr"/>
          <a:lstStyle/>
          <a:p>
            <a:pPr algn="ctr">
              <a:spcAft>
                <a:spcPts val="600"/>
              </a:spcAft>
            </a:pPr>
            <a:r>
              <a:rPr sz="2400" b="0" i="1" dirty="0">
                <a:solidFill>
                  <a:srgbClr val="262B33"/>
                </a:solidFill>
              </a:rPr>
              <a:t>c</a:t>
            </a:r>
            <a:r>
              <a:rPr sz="2400" b="0" i="1" baseline="-25000" dirty="0">
                <a:solidFill>
                  <a:srgbClr val="262B33"/>
                </a:solidFill>
              </a:rPr>
              <a:t>v</a:t>
            </a:r>
            <a:r>
              <a:rPr sz="2400" b="0" i="0" dirty="0">
                <a:solidFill>
                  <a:srgbClr val="262B33"/>
                </a:solidFill>
              </a:rPr>
              <a:t> = 2(</a:t>
            </a:r>
            <a:r>
              <a:rPr sz="2400" b="0" i="1" dirty="0">
                <a:solidFill>
                  <a:srgbClr val="262B33"/>
                </a:solidFill>
              </a:rPr>
              <a:t>b</a:t>
            </a:r>
            <a:r>
              <a:rPr sz="2400" b="0" i="1" baseline="30000" dirty="0">
                <a:solidFill>
                  <a:srgbClr val="262B33"/>
                </a:solidFill>
              </a:rPr>
              <a:t>T</a:t>
            </a:r>
            <a:r>
              <a:rPr sz="2400" b="0" i="1" dirty="0">
                <a:solidFill>
                  <a:srgbClr val="262B33"/>
                </a:solidFill>
              </a:rPr>
              <a:t>c</a:t>
            </a:r>
            <a:r>
              <a:rPr sz="2400" b="0" i="0" dirty="0">
                <a:solidFill>
                  <a:srgbClr val="262B33"/>
                </a:solidFill>
              </a:rPr>
              <a:t> − d</a:t>
            </a:r>
            <a:r>
              <a:rPr sz="2400" b="0" i="1" baseline="-25000" dirty="0">
                <a:solidFill>
                  <a:srgbClr val="262B33"/>
                </a:solidFill>
              </a:rPr>
              <a:t>v</a:t>
            </a:r>
            <a:r>
              <a:rPr sz="2400" b="0" i="0" dirty="0">
                <a:solidFill>
                  <a:srgbClr val="262B33"/>
                </a:solidFill>
              </a:rPr>
              <a:t>) / (d</a:t>
            </a:r>
            <a:r>
              <a:rPr sz="2400" b="0" i="1" baseline="-25000" dirty="0">
                <a:solidFill>
                  <a:srgbClr val="262B33"/>
                </a:solidFill>
              </a:rPr>
              <a:t>v</a:t>
            </a:r>
            <a:r>
              <a:rPr sz="2400" b="0" i="0" dirty="0">
                <a:solidFill>
                  <a:srgbClr val="262B33"/>
                </a:solidFill>
              </a:rPr>
              <a:t>(d</a:t>
            </a:r>
            <a:r>
              <a:rPr sz="2400" b="0" i="1" baseline="-25000" dirty="0">
                <a:solidFill>
                  <a:srgbClr val="262B33"/>
                </a:solidFill>
              </a:rPr>
              <a:t>v</a:t>
            </a:r>
            <a:r>
              <a:rPr sz="2400" b="0" i="0" dirty="0">
                <a:solidFill>
                  <a:srgbClr val="262B33"/>
                </a:solidFill>
              </a:rPr>
              <a:t>−1))</a:t>
            </a:r>
          </a:p>
          <a:p>
            <a:pPr algn="ctr">
              <a:spcAft>
                <a:spcPts val="500"/>
              </a:spcAft>
            </a:pPr>
            <a:r>
              <a:rPr sz="1200" b="0" i="1" dirty="0">
                <a:solidFill>
                  <a:srgbClr val="6B7280"/>
                </a:solidFill>
              </a:rPr>
              <a:t>a</a:t>
            </a:r>
            <a:r>
              <a:rPr sz="1200" b="0" i="0" dirty="0">
                <a:solidFill>
                  <a:srgbClr val="6B7280"/>
                </a:solidFill>
              </a:rPr>
              <a:t> = unique ID    </a:t>
            </a:r>
            <a:r>
              <a:rPr sz="1200" b="0" i="1" dirty="0">
                <a:solidFill>
                  <a:srgbClr val="6B7280"/>
                </a:solidFill>
              </a:rPr>
              <a:t>b</a:t>
            </a:r>
            <a:r>
              <a:rPr sz="1200" b="0" i="0" dirty="0">
                <a:solidFill>
                  <a:srgbClr val="6B7280"/>
                </a:solidFill>
              </a:rPr>
              <a:t> = v's own connections    </a:t>
            </a:r>
            <a:r>
              <a:rPr sz="1200" b="0" i="1" dirty="0">
                <a:solidFill>
                  <a:srgbClr val="6B7280"/>
                </a:solidFill>
              </a:rPr>
              <a:t>c</a:t>
            </a:r>
            <a:r>
              <a:rPr sz="1200" b="0" i="0" dirty="0">
                <a:solidFill>
                  <a:srgbClr val="6B7280"/>
                </a:solidFill>
              </a:rPr>
              <a:t> = sum of neighbors' connections    </a:t>
            </a:r>
            <a:r>
              <a:rPr sz="1200" b="0" i="1" dirty="0">
                <a:solidFill>
                  <a:srgbClr val="6B7280"/>
                </a:solidFill>
              </a:rPr>
              <a:t>d</a:t>
            </a:r>
            <a:r>
              <a:rPr sz="1200" b="0" i="1" baseline="-25000" dirty="0">
                <a:solidFill>
                  <a:srgbClr val="6B7280"/>
                </a:solidFill>
              </a:rPr>
              <a:t>v</a:t>
            </a:r>
            <a:r>
              <a:rPr sz="1200" b="0" i="0" dirty="0">
                <a:solidFill>
                  <a:srgbClr val="6B7280"/>
                </a:solidFill>
              </a:rPr>
              <a:t> = degree</a:t>
            </a:r>
          </a:p>
          <a:p>
            <a:pPr algn="ctr"/>
            <a:r>
              <a:rPr sz="1250" b="1" i="1" dirty="0">
                <a:solidFill>
                  <a:srgbClr val="1F385C"/>
                </a:solidFill>
              </a:rPr>
              <a:t>= (edges among v's neighbors) / (all possible such edges) — exactly the textbook clustering coefficient.</a:t>
            </a:r>
          </a:p>
        </p:txBody>
      </p:sp>
      <p:sp>
        <p:nvSpPr>
          <p:cNvPr id="9105" name="TextBox 9104"/>
          <p:cNvSpPr txBox="1"/>
          <p:nvPr/>
        </p:nvSpPr>
        <p:spPr>
          <a:xfrm>
            <a:off x="685952" y="4746120"/>
            <a:ext cx="10820095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dirty="0">
                <a:solidFill>
                  <a:srgbClr val="1F385C"/>
                </a:solidFill>
              </a:rPr>
              <a:t>Corollary 2: </a:t>
            </a:r>
            <a:r>
              <a:rPr sz="1250" b="0" i="0" dirty="0">
                <a:solidFill>
                  <a:srgbClr val="262B33"/>
                </a:solidFill>
              </a:rPr>
              <a:t>this holds almost surely for noisy/continuous features — why GraphSAGE-pool keeps working when features are replaced with noise (see Results VI).</a:t>
            </a:r>
          </a:p>
        </p:txBody>
      </p:sp>
      <p:sp>
        <p:nvSpPr>
          <p:cNvPr id="9106" name="TextBox 910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2B33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08 · OUR SCALED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What was cut, and what wasn't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9852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Budget</a:t>
            </a:r>
            <a:r>
              <a:rPr sz="1400" b="0" i="0" dirty="0">
                <a:solidFill>
                  <a:srgbClr val="262B33"/>
                </a:solidFill>
              </a:rPr>
              <a:t>: single local consumer GPU (RTX 2060 SUPER), strict </a:t>
            </a:r>
            <a:r>
              <a:rPr sz="1400" b="1" i="0" dirty="0">
                <a:solidFill>
                  <a:srgbClr val="1F385C"/>
                </a:solidFill>
              </a:rPr>
              <a:t>2</a:t>
            </a:r>
            <a:r>
              <a:rPr lang="it-IT" sz="1400" b="1" i="0" dirty="0">
                <a:solidFill>
                  <a:srgbClr val="1F385C"/>
                </a:solidFill>
              </a:rPr>
              <a:t> </a:t>
            </a:r>
            <a:r>
              <a:rPr sz="1400" b="1" i="0" dirty="0">
                <a:solidFill>
                  <a:srgbClr val="1F385C"/>
                </a:solidFill>
              </a:rPr>
              <a:t>hour</a:t>
            </a:r>
            <a:r>
              <a:rPr sz="1400" b="0" i="0" dirty="0">
                <a:solidFill>
                  <a:srgbClr val="262B33"/>
                </a:solidFill>
              </a:rPr>
              <a:t> compute budget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Not reduced</a:t>
            </a:r>
            <a:r>
              <a:rPr sz="1400" b="0" i="0" dirty="0">
                <a:solidFill>
                  <a:srgbClr val="262B33"/>
                </a:solidFill>
              </a:rPr>
              <a:t>: the algorithm itself (</a:t>
            </a:r>
            <a:r>
              <a:rPr sz="1400" b="0" i="1" dirty="0">
                <a:solidFill>
                  <a:srgbClr val="262B33"/>
                </a:solidFill>
              </a:rPr>
              <a:t>K</a:t>
            </a:r>
            <a:r>
              <a:rPr sz="1400" b="0" i="0" dirty="0">
                <a:solidFill>
                  <a:srgbClr val="262B33"/>
                </a:solidFill>
              </a:rPr>
              <a:t>=2, </a:t>
            </a:r>
            <a:r>
              <a:rPr sz="1400" b="0" i="1" dirty="0">
                <a:solidFill>
                  <a:srgbClr val="262B33"/>
                </a:solidFill>
              </a:rPr>
              <a:t>S</a:t>
            </a:r>
            <a:r>
              <a:rPr sz="1400" b="0" i="0" baseline="-25000" dirty="0">
                <a:solidFill>
                  <a:srgbClr val="262B33"/>
                </a:solidFill>
              </a:rPr>
              <a:t>1</a:t>
            </a:r>
            <a:r>
              <a:rPr sz="1400" b="0" i="0" dirty="0">
                <a:solidFill>
                  <a:srgbClr val="262B33"/>
                </a:solidFill>
              </a:rPr>
              <a:t>=25, </a:t>
            </a:r>
            <a:r>
              <a:rPr sz="1400" b="0" i="1" dirty="0">
                <a:solidFill>
                  <a:srgbClr val="262B33"/>
                </a:solidFill>
              </a:rPr>
              <a:t>S</a:t>
            </a:r>
            <a:r>
              <a:rPr sz="1400" b="0" i="0" baseline="-25000" dirty="0">
                <a:solidFill>
                  <a:srgbClr val="262B33"/>
                </a:solidFill>
              </a:rPr>
              <a:t>2</a:t>
            </a:r>
            <a:r>
              <a:rPr sz="1400" b="0" i="0" dirty="0">
                <a:solidFill>
                  <a:srgbClr val="262B33"/>
                </a:solidFill>
              </a:rPr>
              <a:t>=10, all 4 aggregators, both losses)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Reduced</a:t>
            </a:r>
            <a:r>
              <a:rPr sz="1400" b="0" i="0" dirty="0">
                <a:solidFill>
                  <a:srgbClr val="262B33"/>
                </a:solidFill>
              </a:rPr>
              <a:t>: purely the </a:t>
            </a:r>
            <a:r>
              <a:rPr sz="1400" b="0" i="1" dirty="0">
                <a:solidFill>
                  <a:srgbClr val="262B33"/>
                </a:solidFill>
              </a:rPr>
              <a:t>experimental budget</a:t>
            </a:r>
            <a:r>
              <a:rPr sz="1400" b="0" i="0" dirty="0">
                <a:solidFill>
                  <a:srgbClr val="262B33"/>
                </a:solidFill>
              </a:rPr>
              <a:t> (hyperparameter grid, seed count, epoch/step counts)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047" y="3684862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5407" y="3684862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9AA5B1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32607" y="3684862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Sweep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9967" y="3684862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9AA5B1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27167" y="3684862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Multi-seed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4527" y="3684862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9AA5B1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21727" y="3684862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59087" y="3684862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9AA5B1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16287" y="3684862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Noise-robustness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610" y="4782142"/>
            <a:ext cx="1082009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 dirty="0">
                <a:solidFill>
                  <a:srgbClr val="262B33"/>
                </a:solidFill>
              </a:rPr>
              <a:t>All four tiers together: </a:t>
            </a:r>
            <a:r>
              <a:rPr sz="1400" b="1" i="0" dirty="0">
                <a:solidFill>
                  <a:srgbClr val="1F385C"/>
                </a:solidFill>
              </a:rPr>
              <a:t>73.1 minutes</a:t>
            </a:r>
            <a:r>
              <a:rPr sz="1400" b="0" i="0" dirty="0">
                <a:solidFill>
                  <a:srgbClr val="262B33"/>
                </a:solidFill>
              </a:rPr>
              <a:t> total, comfortably under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09 · RESULTS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Accuracy vs. the paper</a:t>
            </a:r>
          </a:p>
        </p:txBody>
      </p:sp>
      <p:pic>
        <p:nvPicPr>
          <p:cNvPr id="4" name="Picture 3" descr="slide10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73" y="1783080"/>
            <a:ext cx="9510948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952" y="5532120"/>
            <a:ext cx="1082009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 dirty="0">
                <a:solidFill>
                  <a:srgbClr val="1F385C"/>
                </a:solidFill>
              </a:rPr>
              <a:t>Same qualitative ordering</a:t>
            </a:r>
            <a:r>
              <a:rPr sz="1400" b="0" i="0" dirty="0">
                <a:solidFill>
                  <a:srgbClr val="262B33"/>
                </a:solidFill>
              </a:rPr>
              <a:t> as the paper: </a:t>
            </a:r>
            <a:r>
              <a:rPr sz="1400" b="0" i="0" dirty="0" err="1">
                <a:solidFill>
                  <a:srgbClr val="262B33"/>
                </a:solidFill>
              </a:rPr>
              <a:t>GraphSAGE</a:t>
            </a:r>
            <a:r>
              <a:rPr sz="1400" b="0" i="0" dirty="0">
                <a:solidFill>
                  <a:srgbClr val="262B33"/>
                </a:solidFill>
              </a:rPr>
              <a:t> ≫ Raw features &gt; Random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10 · RESULTS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Training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2145"/>
            <a:ext cx="3383280" cy="13868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Seconds/iteration per aggregator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Supervised vs. unsupervised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Confirms the paper's own runtime</a:t>
            </a:r>
            <a:r>
              <a:rPr lang="it-IT" sz="1400" b="0" i="0" dirty="0">
                <a:solidFill>
                  <a:srgbClr val="262B33"/>
                </a:solidFill>
              </a:rPr>
              <a:t> </a:t>
            </a:r>
            <a:r>
              <a:rPr sz="1400" b="0" i="0" dirty="0">
                <a:solidFill>
                  <a:srgbClr val="262B33"/>
                </a:solidFill>
              </a:rPr>
              <a:t>tradeoff intuition across aggregator choices</a:t>
            </a:r>
          </a:p>
        </p:txBody>
      </p:sp>
      <p:pic>
        <p:nvPicPr>
          <p:cNvPr id="5" name="Picture 4" descr="slide11_im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772" y="1783080"/>
            <a:ext cx="668719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11 ·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Loss — 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pool</a:t>
            </a:r>
            <a:r>
              <a:rPr sz="1600" b="0" i="0" dirty="0">
                <a:solidFill>
                  <a:srgbClr val="262B33"/>
                </a:solidFill>
              </a:rPr>
              <a:t> (strongest)  vs.  </a:t>
            </a:r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GCN</a:t>
            </a:r>
            <a:r>
              <a:rPr sz="1600" b="0" i="0" dirty="0">
                <a:solidFill>
                  <a:srgbClr val="262B33"/>
                </a:solidFill>
              </a:rPr>
              <a:t> (weakest): supervised loss over training</a:t>
            </a:r>
          </a:p>
        </p:txBody>
      </p:sp>
      <p:pic>
        <p:nvPicPr>
          <p:cNvPr id="5" name="Picture 4" descr="slide12_img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661" y="2377440"/>
            <a:ext cx="4891621" cy="3886200"/>
          </a:xfrm>
          <a:prstGeom prst="rect">
            <a:avLst/>
          </a:prstGeom>
        </p:spPr>
      </p:pic>
      <p:pic>
        <p:nvPicPr>
          <p:cNvPr id="6" name="Picture 5" descr="slide12_im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307" y="2377440"/>
            <a:ext cx="4891621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11 ·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Loss — unsupervised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>
                <a:solidFill>
                  <a:srgbClr val="262B33"/>
                </a:solidFill>
              </a:rPr>
              <a:t>GraphSAGE-</a:t>
            </a:r>
            <a:r>
              <a:rPr sz="1600" b="1" i="0">
                <a:solidFill>
                  <a:srgbClr val="1F385C"/>
                </a:solidFill>
              </a:rPr>
              <a:t>pool</a:t>
            </a:r>
            <a:r>
              <a:rPr sz="1600" b="0" i="0">
                <a:solidFill>
                  <a:srgbClr val="262B33"/>
                </a:solidFill>
              </a:rPr>
              <a:t> (strongest)  vs.  GraphSAGE-</a:t>
            </a:r>
            <a:r>
              <a:rPr sz="1600" b="1" i="0">
                <a:solidFill>
                  <a:srgbClr val="1F385C"/>
                </a:solidFill>
              </a:rPr>
              <a:t>GCN</a:t>
            </a:r>
            <a:r>
              <a:rPr sz="1600" b="0" i="0">
                <a:solidFill>
                  <a:srgbClr val="262B33"/>
                </a:solidFill>
              </a:rPr>
              <a:t> (weakest): unsupervised loss over training</a:t>
            </a:r>
          </a:p>
        </p:txBody>
      </p:sp>
      <p:pic>
        <p:nvPicPr>
          <p:cNvPr id="5" name="Picture 4" descr="slide13_img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434" y="2377440"/>
            <a:ext cx="4884490" cy="3886200"/>
          </a:xfrm>
          <a:prstGeom prst="rect">
            <a:avLst/>
          </a:prstGeom>
        </p:spPr>
      </p:pic>
      <p:pic>
        <p:nvPicPr>
          <p:cNvPr id="6" name="Picture 5" descr="slide13_im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307" y="2377440"/>
            <a:ext cx="488449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11 ·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Performance — 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pool</a:t>
            </a:r>
            <a:r>
              <a:rPr sz="1600" b="0" i="0" dirty="0">
                <a:solidFill>
                  <a:srgbClr val="262B33"/>
                </a:solidFill>
              </a:rPr>
              <a:t> (strongest)  vs.  </a:t>
            </a:r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GCN</a:t>
            </a:r>
            <a:r>
              <a:rPr sz="1600" b="0" i="0" dirty="0">
                <a:solidFill>
                  <a:srgbClr val="262B33"/>
                </a:solidFill>
              </a:rPr>
              <a:t> (weakest): supervised performance (F1 micro) over training</a:t>
            </a:r>
          </a:p>
        </p:txBody>
      </p:sp>
      <p:pic>
        <p:nvPicPr>
          <p:cNvPr id="5" name="Picture 4" descr="slide14_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661" y="2377440"/>
            <a:ext cx="4891621" cy="3886200"/>
          </a:xfrm>
          <a:prstGeom prst="rect">
            <a:avLst/>
          </a:prstGeom>
        </p:spPr>
      </p:pic>
      <p:pic>
        <p:nvPicPr>
          <p:cNvPr id="6" name="Picture 5" descr="slide14_im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307" y="2377440"/>
            <a:ext cx="4891621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11 ·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Performance — unsupervised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pool</a:t>
            </a:r>
            <a:r>
              <a:rPr sz="1600" b="0" i="0" dirty="0">
                <a:solidFill>
                  <a:srgbClr val="262B33"/>
                </a:solidFill>
              </a:rPr>
              <a:t> (strongest)  vs.  </a:t>
            </a:r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GCN</a:t>
            </a:r>
            <a:r>
              <a:rPr sz="1600" b="0" i="0" dirty="0">
                <a:solidFill>
                  <a:srgbClr val="262B33"/>
                </a:solidFill>
              </a:rPr>
              <a:t> (weakest): unsupervised performance (MRR) over training</a:t>
            </a:r>
          </a:p>
        </p:txBody>
      </p:sp>
      <p:pic>
        <p:nvPicPr>
          <p:cNvPr id="5" name="Picture 4" descr="slide15_im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434" y="2377440"/>
            <a:ext cx="4884490" cy="3886200"/>
          </a:xfrm>
          <a:prstGeom prst="rect">
            <a:avLst/>
          </a:prstGeom>
        </p:spPr>
      </p:pic>
      <p:pic>
        <p:nvPicPr>
          <p:cNvPr id="6" name="Picture 5" descr="slide15_img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307" y="2377440"/>
            <a:ext cx="488449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12 · EMBEDDING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Step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>
                <a:solidFill>
                  <a:srgbClr val="262B33"/>
                </a:solidFill>
              </a:rPr>
              <a:t>Right after initialization: </a:t>
            </a:r>
            <a:r>
              <a:rPr sz="1600" b="1" i="0" dirty="0">
                <a:solidFill>
                  <a:srgbClr val="1F385C"/>
                </a:solidFill>
              </a:rPr>
              <a:t>structurally different nodes not yet separated</a:t>
            </a:r>
          </a:p>
        </p:txBody>
      </p:sp>
      <p:pic>
        <p:nvPicPr>
          <p:cNvPr id="5" name="Picture 4" descr="slide16_img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22" y="2377440"/>
            <a:ext cx="4867244" cy="3886200"/>
          </a:xfrm>
          <a:prstGeom prst="rect">
            <a:avLst/>
          </a:prstGeom>
        </p:spPr>
      </p:pic>
      <p:pic>
        <p:nvPicPr>
          <p:cNvPr id="6" name="Picture 5" descr="slide16_im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664" y="2377440"/>
            <a:ext cx="509510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12 · EMBEDDING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Step 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>
                <a:solidFill>
                  <a:srgbClr val="262B33"/>
                </a:solidFill>
              </a:rPr>
              <a:t>Cluster structure already largely in place: </a:t>
            </a:r>
            <a:r>
              <a:rPr sz="1600" b="1" i="0" dirty="0">
                <a:solidFill>
                  <a:srgbClr val="1F385C"/>
                </a:solidFill>
              </a:rPr>
              <a:t>~85× fewer steps than a full epoch</a:t>
            </a:r>
          </a:p>
        </p:txBody>
      </p:sp>
      <p:pic>
        <p:nvPicPr>
          <p:cNvPr id="5" name="Picture 4" descr="slide17_img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22" y="2377440"/>
            <a:ext cx="4867244" cy="3886200"/>
          </a:xfrm>
          <a:prstGeom prst="rect">
            <a:avLst/>
          </a:prstGeom>
        </p:spPr>
      </p:pic>
      <p:pic>
        <p:nvPicPr>
          <p:cNvPr id="6" name="Picture 5" descr="slide17_img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664" y="2377440"/>
            <a:ext cx="509510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12 · EMBEDDING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Step 17</a:t>
            </a:r>
            <a:r>
              <a:rPr lang="it-IT" sz="3000" b="1" i="0" dirty="0">
                <a:solidFill>
                  <a:srgbClr val="1F385C"/>
                </a:solidFill>
              </a:rPr>
              <a:t>,</a:t>
            </a:r>
            <a:r>
              <a:rPr sz="3000" b="1" i="0" dirty="0">
                <a:solidFill>
                  <a:srgbClr val="1F385C"/>
                </a:solidFill>
              </a:rPr>
              <a:t>050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>
                <a:solidFill>
                  <a:srgbClr val="262B33"/>
                </a:solidFill>
              </a:rPr>
              <a:t>Final stage (~1 full epoch): </a:t>
            </a:r>
            <a:r>
              <a:rPr sz="1600" b="1" i="0" dirty="0">
                <a:solidFill>
                  <a:srgbClr val="1F385C"/>
                </a:solidFill>
              </a:rPr>
              <a:t>training mostly refines distances/density from here</a:t>
            </a:r>
          </a:p>
        </p:txBody>
      </p:sp>
      <p:pic>
        <p:nvPicPr>
          <p:cNvPr id="5" name="Picture 4" descr="slide18_img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22" y="2377440"/>
            <a:ext cx="4867244" cy="3886200"/>
          </a:xfrm>
          <a:prstGeom prst="rect">
            <a:avLst/>
          </a:prstGeom>
        </p:spPr>
      </p:pic>
      <p:pic>
        <p:nvPicPr>
          <p:cNvPr id="6" name="Picture 5" descr="slide18_img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664" y="2377440"/>
            <a:ext cx="509510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12 · EMBEDDING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Structural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>
                <a:solidFill>
                  <a:srgbClr val="262B33"/>
                </a:solidFill>
              </a:rPr>
              <a:t>Final stage colored by node </a:t>
            </a:r>
            <a:r>
              <a:rPr sz="1600" b="1" i="0" dirty="0">
                <a:solidFill>
                  <a:srgbClr val="1F385C"/>
                </a:solidFill>
              </a:rPr>
              <a:t>degree</a:t>
            </a:r>
            <a:r>
              <a:rPr sz="1600" b="0" i="0" dirty="0">
                <a:solidFill>
                  <a:srgbClr val="262B33"/>
                </a:solidFill>
              </a:rPr>
              <a:t> instead of split: a direct check of Theorem 1's structural</a:t>
            </a:r>
            <a:r>
              <a:rPr lang="it-IT" sz="1600" b="0" i="0" dirty="0">
                <a:solidFill>
                  <a:srgbClr val="262B33"/>
                </a:solidFill>
              </a:rPr>
              <a:t> </a:t>
            </a:r>
            <a:r>
              <a:rPr sz="1600" b="0" i="0" dirty="0">
                <a:solidFill>
                  <a:srgbClr val="262B33"/>
                </a:solidFill>
              </a:rPr>
              <a:t>signal claim</a:t>
            </a:r>
          </a:p>
        </p:txBody>
      </p:sp>
      <p:pic>
        <p:nvPicPr>
          <p:cNvPr id="5" name="Picture 4" descr="slide19_img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40" y="2560265"/>
            <a:ext cx="5183029" cy="3520548"/>
          </a:xfrm>
          <a:prstGeom prst="rect">
            <a:avLst/>
          </a:prstGeom>
        </p:spPr>
      </p:pic>
      <p:pic>
        <p:nvPicPr>
          <p:cNvPr id="6" name="Picture 5" descr="slide19_img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7" y="2560265"/>
            <a:ext cx="5183029" cy="35205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13 · RESULTS 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340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 dirty="0">
                <a:solidFill>
                  <a:srgbClr val="1F385C"/>
                </a:solidFill>
              </a:rPr>
              <a:t>K-sensitivity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97305"/>
            <a:ext cx="3931920" cy="16346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K=2 beats K=1</a:t>
            </a:r>
            <a:r>
              <a:rPr sz="1400" b="0" i="0" dirty="0">
                <a:solidFill>
                  <a:srgbClr val="262B33"/>
                </a:solidFill>
              </a:rPr>
              <a:t>: 0.585 vs. 0.472 F1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K=3 no better</a:t>
            </a:r>
            <a:r>
              <a:rPr sz="1400" b="0" i="0" dirty="0">
                <a:solidFill>
                  <a:srgbClr val="262B33"/>
                </a:solidFill>
              </a:rPr>
              <a:t>: 0.575, consistent with the paper's “marginal returns beyond K=2”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Same panel also shows the </a:t>
            </a:r>
            <a:r>
              <a:rPr sz="1400" b="1" i="0" dirty="0">
                <a:solidFill>
                  <a:srgbClr val="1F385C"/>
                </a:solidFill>
              </a:rPr>
              <a:t>runtime cost</a:t>
            </a:r>
            <a:r>
              <a:rPr sz="1400" b="0" i="0" dirty="0">
                <a:solidFill>
                  <a:srgbClr val="262B33"/>
                </a:solidFill>
              </a:rPr>
              <a:t> growing with K</a:t>
            </a:r>
          </a:p>
        </p:txBody>
      </p:sp>
      <p:pic>
        <p:nvPicPr>
          <p:cNvPr id="5" name="Picture 4" descr="slide20_img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032" y="1783080"/>
            <a:ext cx="590931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14 · RESULTS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 dirty="0">
                <a:solidFill>
                  <a:srgbClr val="1F385C"/>
                </a:solidFill>
              </a:rPr>
              <a:t>Noise robustness (Theorem 1, empirical)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4183"/>
            <a:ext cx="3931920" cy="1882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 err="1">
                <a:solidFill>
                  <a:srgbClr val="1F385C"/>
                </a:solidFill>
              </a:rPr>
              <a:t>GraphSAGE</a:t>
            </a:r>
            <a:r>
              <a:rPr sz="1400" b="1" i="0" dirty="0">
                <a:solidFill>
                  <a:srgbClr val="1F385C"/>
                </a:solidFill>
              </a:rPr>
              <a:t>-pool</a:t>
            </a:r>
            <a:r>
              <a:rPr sz="1400" b="0" i="0" dirty="0">
                <a:solidFill>
                  <a:srgbClr val="262B33"/>
                </a:solidFill>
              </a:rPr>
              <a:t> stays above both GCN and the raw-features baseline at every noise level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GCN falls below raw features</a:t>
            </a:r>
            <a:r>
              <a:rPr sz="1400" b="0" i="0" dirty="0">
                <a:solidFill>
                  <a:srgbClr val="262B33"/>
                </a:solidFill>
              </a:rPr>
              <a:t> at full noise (0.389 vs. 0.393)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Exactly the structural-reliance gap </a:t>
            </a:r>
            <a:r>
              <a:rPr sz="1400" b="1" i="0" dirty="0">
                <a:solidFill>
                  <a:srgbClr val="1F385C"/>
                </a:solidFill>
              </a:rPr>
              <a:t>Theorem 1</a:t>
            </a:r>
            <a:r>
              <a:rPr sz="1400" b="0" i="0" dirty="0">
                <a:solidFill>
                  <a:srgbClr val="262B33"/>
                </a:solidFill>
              </a:rPr>
              <a:t> predicts</a:t>
            </a:r>
          </a:p>
        </p:txBody>
      </p:sp>
      <p:pic>
        <p:nvPicPr>
          <p:cNvPr id="5" name="Picture 4" descr="slide21_img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762" y="1783080"/>
            <a:ext cx="6205849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15 · DISCUSSION &amp; 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What this reproduction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7400"/>
            <a:ext cx="10820095" cy="19633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600" b="0" i="0" dirty="0">
                <a:solidFill>
                  <a:srgbClr val="1BAF7A"/>
                </a:solidFill>
              </a:rPr>
              <a:t>●   </a:t>
            </a:r>
            <a:r>
              <a:rPr sz="1600" b="0" i="0" dirty="0">
                <a:solidFill>
                  <a:srgbClr val="262B33"/>
                </a:solidFill>
              </a:rPr>
              <a:t>Qualitative ordering </a:t>
            </a:r>
            <a:r>
              <a:rPr sz="1600" b="1" i="0" dirty="0">
                <a:solidFill>
                  <a:srgbClr val="1F385C"/>
                </a:solidFill>
              </a:rPr>
              <a:t>survives the scale</a:t>
            </a:r>
            <a:r>
              <a:rPr lang="it-IT" sz="1600" b="1" i="0" dirty="0">
                <a:solidFill>
                  <a:srgbClr val="1F385C"/>
                </a:solidFill>
              </a:rPr>
              <a:t> </a:t>
            </a:r>
            <a:r>
              <a:rPr sz="1600" b="1" i="0" dirty="0">
                <a:solidFill>
                  <a:srgbClr val="1F385C"/>
                </a:solidFill>
              </a:rPr>
              <a:t>down</a:t>
            </a:r>
            <a:r>
              <a:rPr sz="1600" b="0" i="0" dirty="0">
                <a:solidFill>
                  <a:srgbClr val="262B33"/>
                </a:solidFill>
              </a:rPr>
              <a:t>: </a:t>
            </a:r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 ≫ Raw features &gt; Random, supervised ≥ unsupervised — GCN is weakest in the supervised setting, but is actually the strongest unsupervised GraphSAGE variant reproduced here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600" b="0" i="0" dirty="0">
                <a:solidFill>
                  <a:srgbClr val="1BAF7A"/>
                </a:solidFill>
              </a:rPr>
              <a:t>●   </a:t>
            </a:r>
            <a:r>
              <a:rPr sz="1600" b="0" i="0" dirty="0">
                <a:solidFill>
                  <a:srgbClr val="262B33"/>
                </a:solidFill>
              </a:rPr>
              <a:t>Numerical gaps vs. paper explained by: reduced hyperparameter grid, fewer seeds, TensorFlow version drift, different hardware (1× RTX 2060 SUPER vs. 4× Titan X Pascal)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dirty="0">
                <a:solidFill>
                  <a:srgbClr val="1BAF7A"/>
                </a:solidFill>
              </a:rPr>
              <a:t>●   </a:t>
            </a:r>
            <a:r>
              <a:rPr sz="1600" b="0" i="0" dirty="0">
                <a:solidFill>
                  <a:srgbClr val="262B33"/>
                </a:solidFill>
              </a:rPr>
              <a:t>Both theoretical claims (</a:t>
            </a:r>
            <a:r>
              <a:rPr sz="1600" b="1" i="0" dirty="0">
                <a:solidFill>
                  <a:srgbClr val="1F385C"/>
                </a:solidFill>
              </a:rPr>
              <a:t>K</a:t>
            </a:r>
            <a:r>
              <a:rPr lang="it-IT" sz="1600" b="1" i="0" dirty="0">
                <a:solidFill>
                  <a:srgbClr val="1F385C"/>
                </a:solidFill>
              </a:rPr>
              <a:t> </a:t>
            </a:r>
            <a:r>
              <a:rPr sz="1600" b="1" i="0" dirty="0">
                <a:solidFill>
                  <a:srgbClr val="1F385C"/>
                </a:solidFill>
              </a:rPr>
              <a:t>sensitivity</a:t>
            </a:r>
            <a:r>
              <a:rPr sz="1600" b="0" i="0" dirty="0">
                <a:solidFill>
                  <a:srgbClr val="262B33"/>
                </a:solidFill>
              </a:rPr>
              <a:t> and </a:t>
            </a:r>
            <a:r>
              <a:rPr sz="1600" b="1" i="0" dirty="0">
                <a:solidFill>
                  <a:srgbClr val="1F385C"/>
                </a:solidFill>
              </a:rPr>
              <a:t>noise</a:t>
            </a:r>
            <a:r>
              <a:rPr lang="it-IT" sz="1600" b="1" i="0" dirty="0">
                <a:solidFill>
                  <a:srgbClr val="1F385C"/>
                </a:solidFill>
              </a:rPr>
              <a:t> </a:t>
            </a:r>
            <a:r>
              <a:rPr sz="1600" b="1" i="0" dirty="0">
                <a:solidFill>
                  <a:srgbClr val="1F385C"/>
                </a:solidFill>
              </a:rPr>
              <a:t>robustness</a:t>
            </a:r>
            <a:r>
              <a:rPr sz="1600" b="0" i="0" dirty="0">
                <a:solidFill>
                  <a:srgbClr val="262B33"/>
                </a:solidFill>
              </a:rPr>
              <a:t>) independently </a:t>
            </a:r>
            <a:r>
              <a:rPr sz="1600" b="1" i="0" dirty="0">
                <a:solidFill>
                  <a:srgbClr val="1F385C"/>
                </a:solidFill>
              </a:rPr>
              <a:t>verified on PPI</a:t>
            </a:r>
            <a:r>
              <a:rPr sz="1600" b="0" i="0" dirty="0">
                <a:solidFill>
                  <a:srgbClr val="262B33"/>
                </a:solidFill>
              </a:rPr>
              <a:t>, not just asserted from the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880360"/>
            <a:ext cx="121916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600" b="1" i="0">
                <a:solidFill>
                  <a:srgbClr val="1F385C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9224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9AA5B1"/>
                </a:solidFill>
              </a:rPr>
              <a:t>GraphSAGE on PPI – Scaled Reproduction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1821</Words>
  <Application>Microsoft Office PowerPoint</Application>
  <PresentationFormat>Widescreen</PresentationFormat>
  <Paragraphs>213</Paragraphs>
  <Slides>27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Federico Cerutti</cp:lastModifiedBy>
  <cp:revision>42</cp:revision>
  <dcterms:created xsi:type="dcterms:W3CDTF">2013-01-27T09:14:16Z</dcterms:created>
  <dcterms:modified xsi:type="dcterms:W3CDTF">2026-09-13T09:17:31Z</dcterms:modified>
  <cp:category/>
</cp:coreProperties>
</file>