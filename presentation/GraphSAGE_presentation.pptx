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79" r:id="rId5"/>
    <p:sldId id="280" r:id="rId6"/>
    <p:sldId id="260" r:id="rId7"/>
    <p:sldId id="261" r:id="rId8"/>
    <p:sldId id="300" r:id="rId9"/>
    <p:sldId id="262" r:id="rId10"/>
    <p:sldId id="263" r:id="rId11"/>
    <p:sldId id="281" r:id="rId12"/>
    <p:sldId id="282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301" r:id="rId21"/>
    <p:sldId id="302" r:id="rId22"/>
    <p:sldId id="271" r:id="rId23"/>
    <p:sldId id="272" r:id="rId24"/>
    <p:sldId id="273" r:id="rId25"/>
    <p:sldId id="274" r:id="rId26"/>
    <p:sldId id="275" r:id="rId27"/>
    <p:sldId id="303" r:id="rId28"/>
    <p:sldId id="276" r:id="rId29"/>
    <p:sldId id="277" r:id="rId30"/>
    <p:sldId id="278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5C"/>
    <a:srgbClr val="1BAF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96696" y="2203838"/>
            <a:ext cx="6380922" cy="10823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1" i="0" dirty="0" err="1">
                <a:solidFill>
                  <a:srgbClr val="1F385C"/>
                </a:solidFill>
              </a:rPr>
              <a:t>GraphSAGE</a:t>
            </a:r>
            <a:endParaRPr sz="4200" b="1" i="0" dirty="0">
              <a:solidFill>
                <a:srgbClr val="1F385C"/>
              </a:solidFill>
            </a:endParaRPr>
          </a:p>
          <a:p>
            <a:pPr algn="l">
              <a:spcAft>
                <a:spcPts val="0"/>
              </a:spcAft>
            </a:pPr>
            <a:r>
              <a:rPr sz="2400" b="0" i="0" dirty="0">
                <a:solidFill>
                  <a:srgbClr val="55606B"/>
                </a:solidFill>
              </a:rPr>
              <a:t>Inductive Representation Learning on Large Graphs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286209"/>
            <a:ext cx="9601200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1" dirty="0">
                <a:solidFill>
                  <a:srgbClr val="55606B"/>
                </a:solidFill>
              </a:rPr>
              <a:t>Reproducing and evaluating Hamilton, Ying &amp; Leskovec (2017) on the PPI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23560"/>
            <a:ext cx="5486400" cy="3949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dirty="0">
                <a:solidFill>
                  <a:srgbClr val="1F385C"/>
                </a:solidFill>
              </a:rPr>
              <a:t>Federico Cerutti — 85644A</a:t>
            </a:r>
          </a:p>
          <a:p>
            <a:pPr algn="l"/>
            <a:r>
              <a:rPr sz="1200" b="0" i="0" dirty="0">
                <a:solidFill>
                  <a:srgbClr val="55606B"/>
                </a:solidFill>
              </a:rPr>
              <a:t>ML on Graphs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9224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 dirty="0" err="1">
                <a:solidFill>
                  <a:srgbClr val="9AA5B1"/>
                </a:solidFill>
              </a:rPr>
              <a:t>GraphSAGE</a:t>
            </a:r>
            <a:r>
              <a:rPr sz="1000" b="0" i="1" dirty="0">
                <a:solidFill>
                  <a:srgbClr val="9AA5B1"/>
                </a:solidFill>
              </a:rPr>
              <a:t> on PPI – Scaled Reproduction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01 · MOTIVATION &amp; PARADIGMS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5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 err="1">
                <a:solidFill>
                  <a:srgbClr val="1F385C"/>
                </a:solidFill>
              </a:rPr>
              <a:t>Transductive</a:t>
            </a:r>
            <a:r>
              <a:rPr sz="3000" b="1" i="0" dirty="0">
                <a:solidFill>
                  <a:srgbClr val="1F385C"/>
                </a:solidFill>
              </a:rPr>
              <a:t> vs. inductive</a:t>
            </a:r>
          </a:p>
        </p:txBody>
      </p:sp>
      <p:sp>
        <p:nvSpPr>
          <p:cNvPr id="30" name="TextBox Leadin"/>
          <p:cNvSpPr txBox="1"/>
          <p:nvPr/>
        </p:nvSpPr>
        <p:spPr>
          <a:xfrm>
            <a:off x="685802" y="1228662"/>
            <a:ext cx="1082009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 dirty="0">
                <a:solidFill>
                  <a:srgbClr val="55606B"/>
                </a:solidFill>
              </a:rPr>
              <a:t>Real-world graph problems need a learned vector per node</a:t>
            </a:r>
            <a:r>
              <a:rPr lang="it-IT" sz="1400" b="0" i="0" dirty="0">
                <a:solidFill>
                  <a:srgbClr val="55606B"/>
                </a:solidFill>
              </a:rPr>
              <a:t>. </a:t>
            </a:r>
            <a:r>
              <a:rPr lang="it-IT" sz="1400" dirty="0">
                <a:solidFill>
                  <a:srgbClr val="55606B"/>
                </a:solidFill>
              </a:rPr>
              <a:t>T</a:t>
            </a:r>
            <a:r>
              <a:rPr sz="1400" b="0" i="0" dirty="0">
                <a:solidFill>
                  <a:srgbClr val="55606B"/>
                </a:solidFill>
              </a:rPr>
              <a:t>he only question is where that vector comes from: </a:t>
            </a:r>
            <a:r>
              <a:rPr sz="1400" b="1" i="0" dirty="0">
                <a:solidFill>
                  <a:srgbClr val="1F385C"/>
                </a:solidFill>
              </a:rPr>
              <a:t>a fixed table, or a function.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1" y="1882720"/>
            <a:ext cx="4952847" cy="25500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53048" y="1882720"/>
            <a:ext cx="4952847" cy="25500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868" y="2142926"/>
            <a:ext cx="4221327" cy="1990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1" i="0" dirty="0" err="1">
                <a:solidFill>
                  <a:srgbClr val="1F385C"/>
                </a:solidFill>
              </a:rPr>
              <a:t>Transductive</a:t>
            </a:r>
          </a:p>
          <a:p>
            <a:pPr algn="l">
              <a:spcAft>
                <a:spcPts val="1800"/>
              </a:spcAft>
            </a:pPr>
            <a:r>
              <a:rPr sz="1300" b="0" i="0" dirty="0">
                <a:solidFill>
                  <a:srgbClr val="55606B"/>
                </a:solidFill>
              </a:rPr>
              <a:t>(</a:t>
            </a:r>
            <a:r>
              <a:rPr sz="1300" b="0" i="0" dirty="0" err="1">
                <a:solidFill>
                  <a:srgbClr val="55606B"/>
                </a:solidFill>
              </a:rPr>
              <a:t>DeepWalk</a:t>
            </a:r>
            <a:r>
              <a:rPr sz="1300" b="0" i="0" dirty="0">
                <a:solidFill>
                  <a:srgbClr val="55606B"/>
                </a:solidFill>
              </a:rPr>
              <a:t> / node2vec)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Learns a </a:t>
            </a:r>
            <a:r>
              <a:rPr sz="1400" b="1" i="0" dirty="0">
                <a:solidFill>
                  <a:srgbClr val="1F385C"/>
                </a:solidFill>
              </a:rPr>
              <a:t>lookup table</a:t>
            </a:r>
            <a:r>
              <a:rPr sz="1400" b="0" i="0" dirty="0">
                <a:solidFill>
                  <a:srgbClr val="262B33"/>
                </a:solidFill>
              </a:rPr>
              <a:t>, one row per node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Embedding space can rotate between runs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Fails on unseen nodes / unseen graphs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18807" y="2142926"/>
            <a:ext cx="4221327" cy="1990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1" i="0" dirty="0">
                <a:solidFill>
                  <a:srgbClr val="1F385C"/>
                </a:solidFill>
              </a:rPr>
              <a:t>Inductive</a:t>
            </a:r>
          </a:p>
          <a:p>
            <a:pPr algn="l">
              <a:spcAft>
                <a:spcPts val="1800"/>
              </a:spcAft>
            </a:pPr>
            <a:r>
              <a:rPr sz="1300" b="0" i="0" dirty="0">
                <a:solidFill>
                  <a:srgbClr val="55606B"/>
                </a:solidFill>
              </a:rPr>
              <a:t>(</a:t>
            </a:r>
            <a:r>
              <a:rPr sz="1300" b="0" i="0" dirty="0" err="1">
                <a:solidFill>
                  <a:srgbClr val="55606B"/>
                </a:solidFill>
              </a:rPr>
              <a:t>GraphSAGE</a:t>
            </a:r>
            <a:r>
              <a:rPr sz="1300" b="0" i="0" dirty="0">
                <a:solidFill>
                  <a:srgbClr val="55606B"/>
                </a:solidFill>
              </a:rPr>
              <a:t>)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Learns a </a:t>
            </a:r>
            <a:r>
              <a:rPr sz="1400" b="1" i="0" dirty="0">
                <a:solidFill>
                  <a:srgbClr val="1F385C"/>
                </a:solidFill>
              </a:rPr>
              <a:t>function</a:t>
            </a:r>
            <a:r>
              <a:rPr sz="1400" b="0" i="0" dirty="0">
                <a:solidFill>
                  <a:srgbClr val="262B33"/>
                </a:solidFill>
              </a:rPr>
              <a:t> over local neighborhoods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Same function applies to brand-new nodes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Works on unseen nodes, even unseen graphs</a:t>
            </a:r>
          </a:p>
        </p:txBody>
      </p:sp>
      <p:sp>
        <p:nvSpPr>
          <p:cNvPr id="8" name="Oval 7"/>
          <p:cNvSpPr/>
          <p:nvPr/>
        </p:nvSpPr>
        <p:spPr>
          <a:xfrm>
            <a:off x="5812384" y="2874256"/>
            <a:ext cx="566928" cy="566928"/>
          </a:xfrm>
          <a:prstGeom prst="ellipse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8" y="4788499"/>
            <a:ext cx="10820095" cy="700000"/>
          </a:xfrm>
          <a:prstGeom prst="roundRect">
            <a:avLst>
              <a:gd name="adj" fmla="val 6000"/>
            </a:avLst>
          </a:prstGeom>
          <a:solidFill>
            <a:srgbClr val="E9F8F1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38078" y="5030777"/>
            <a:ext cx="8915534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dirty="0">
                <a:solidFill>
                  <a:srgbClr val="1F385C"/>
                </a:solidFill>
              </a:rPr>
              <a:t>Thesis:  </a:t>
            </a:r>
            <a:r>
              <a:rPr sz="1400" b="0" i="0" dirty="0">
                <a:solidFill>
                  <a:srgbClr val="262B33"/>
                </a:solidFill>
              </a:rPr>
              <a:t>an inductive, neighborhood-aggregating function generalizes where a per-node lookup table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 dirty="0">
                <a:solidFill>
                  <a:srgbClr val="9AA5B1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02 ·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Algorithm 1: Sample → Aggregate → Predict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0578"/>
            <a:ext cx="7073348" cy="8818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Sample</a:t>
            </a:r>
            <a:r>
              <a:rPr sz="1300" b="0" i="0" dirty="0">
                <a:solidFill>
                  <a:srgbClr val="262B33"/>
                </a:solidFill>
              </a:rPr>
              <a:t>: fixed size neighborhood N(v), redrawn every iteration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Aggregate + combine</a:t>
            </a:r>
            <a:r>
              <a:rPr sz="1300" b="0" i="0" dirty="0">
                <a:solidFill>
                  <a:srgbClr val="262B33"/>
                </a:solidFill>
              </a:rPr>
              <a:t>: </a:t>
            </a:r>
            <a:r>
              <a:rPr sz="1300" b="0" i="1" dirty="0">
                <a:solidFill>
                  <a:srgbClr val="262B33"/>
                </a:solidFill>
              </a:rPr>
              <a:t>h</a:t>
            </a:r>
            <a:r>
              <a:rPr sz="1300" b="0" i="1" baseline="-25000" dirty="0">
                <a:solidFill>
                  <a:srgbClr val="262B33"/>
                </a:solidFill>
              </a:rPr>
              <a:t>v</a:t>
            </a:r>
            <a:r>
              <a:rPr sz="1300" b="0" i="1" baseline="30000" dirty="0">
                <a:solidFill>
                  <a:srgbClr val="262B33"/>
                </a:solidFill>
              </a:rPr>
              <a:t>k</a:t>
            </a:r>
            <a:r>
              <a:rPr sz="1300" b="0" i="0" dirty="0">
                <a:solidFill>
                  <a:srgbClr val="262B33"/>
                </a:solidFill>
              </a:rPr>
              <a:t> = σ(</a:t>
            </a:r>
            <a:r>
              <a:rPr sz="1300" b="0" i="1" dirty="0">
                <a:solidFill>
                  <a:srgbClr val="262B33"/>
                </a:solidFill>
              </a:rPr>
              <a:t>W</a:t>
            </a:r>
            <a:r>
              <a:rPr sz="1300" b="0" i="1" baseline="30000" dirty="0">
                <a:solidFill>
                  <a:srgbClr val="262B33"/>
                </a:solidFill>
              </a:rPr>
              <a:t>k</a:t>
            </a:r>
            <a:r>
              <a:rPr sz="1300" b="0" i="0" dirty="0">
                <a:solidFill>
                  <a:srgbClr val="262B33"/>
                </a:solidFill>
              </a:rPr>
              <a:t> · CONCAT(</a:t>
            </a:r>
            <a:r>
              <a:rPr sz="1300" b="0" i="1" dirty="0">
                <a:solidFill>
                  <a:srgbClr val="262B33"/>
                </a:solidFill>
              </a:rPr>
              <a:t>h</a:t>
            </a:r>
            <a:r>
              <a:rPr sz="1300" b="0" i="1" baseline="-25000" dirty="0">
                <a:solidFill>
                  <a:srgbClr val="262B33"/>
                </a:solidFill>
              </a:rPr>
              <a:t>v</a:t>
            </a:r>
            <a:r>
              <a:rPr sz="1300" b="0" i="1" baseline="30000" dirty="0">
                <a:solidFill>
                  <a:srgbClr val="262B33"/>
                </a:solidFill>
              </a:rPr>
              <a:t>k−1</a:t>
            </a:r>
            <a:r>
              <a:rPr sz="1300" b="0" i="0" dirty="0">
                <a:solidFill>
                  <a:srgbClr val="262B33"/>
                </a:solidFill>
              </a:rPr>
              <a:t>, </a:t>
            </a:r>
            <a:r>
              <a:rPr sz="1300" b="0" i="1" dirty="0">
                <a:solidFill>
                  <a:srgbClr val="262B33"/>
                </a:solidFill>
              </a:rPr>
              <a:t>h</a:t>
            </a:r>
            <a:r>
              <a:rPr sz="1300" b="0" i="0" baseline="-25000" dirty="0">
                <a:solidFill>
                  <a:srgbClr val="262B33"/>
                </a:solidFill>
              </a:rPr>
              <a:t>N(v)</a:t>
            </a:r>
            <a:r>
              <a:rPr sz="1300" b="0" i="1" baseline="30000" dirty="0">
                <a:solidFill>
                  <a:srgbClr val="262B33"/>
                </a:solidFill>
              </a:rPr>
              <a:t>k</a:t>
            </a:r>
            <a:r>
              <a:rPr sz="1300" b="0" i="0" dirty="0">
                <a:solidFill>
                  <a:srgbClr val="262B33"/>
                </a:solidFill>
              </a:rPr>
              <a:t>)), then unit-normalize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0" i="0" dirty="0">
                <a:solidFill>
                  <a:srgbClr val="262B33"/>
                </a:solidFill>
              </a:rPr>
              <a:t>Repeat for k = 1...K hops → final embedding </a:t>
            </a:r>
            <a:r>
              <a:rPr sz="1300" b="0" i="1" dirty="0">
                <a:solidFill>
                  <a:srgbClr val="262B33"/>
                </a:solidFill>
              </a:rPr>
              <a:t>z</a:t>
            </a:r>
            <a:r>
              <a:rPr sz="1300" b="0" i="1" baseline="-25000" dirty="0">
                <a:solidFill>
                  <a:srgbClr val="262B33"/>
                </a:solidFill>
              </a:rPr>
              <a:t>v</a:t>
            </a:r>
            <a:r>
              <a:rPr sz="1300" b="0" i="0" dirty="0">
                <a:solidFill>
                  <a:srgbClr val="262B33"/>
                </a:solidFill>
              </a:rPr>
              <a:t> = </a:t>
            </a:r>
            <a:r>
              <a:rPr sz="1300" b="0" i="1" dirty="0">
                <a:solidFill>
                  <a:srgbClr val="262B33"/>
                </a:solidFill>
              </a:rPr>
              <a:t>h</a:t>
            </a:r>
            <a:r>
              <a:rPr sz="1300" b="0" i="1" baseline="-25000" dirty="0">
                <a:solidFill>
                  <a:srgbClr val="262B33"/>
                </a:solidFill>
              </a:rPr>
              <a:t>v</a:t>
            </a:r>
            <a:r>
              <a:rPr sz="1300" b="0" i="1" baseline="30000" dirty="0">
                <a:solidFill>
                  <a:srgbClr val="262B33"/>
                </a:solidFill>
              </a:rPr>
              <a:t>K</a:t>
            </a:r>
            <a:r>
              <a:rPr sz="1300" b="0" i="0" dirty="0">
                <a:solidFill>
                  <a:srgbClr val="262B33"/>
                </a:solidFill>
              </a:rPr>
              <a:t>   |   cost O(∏</a:t>
            </a:r>
            <a:r>
              <a:rPr sz="1300" b="0" i="1" dirty="0">
                <a:solidFill>
                  <a:srgbClr val="262B33"/>
                </a:solidFill>
              </a:rPr>
              <a:t>S</a:t>
            </a:r>
            <a:r>
              <a:rPr sz="1300" b="0" i="1" baseline="-25000" dirty="0">
                <a:solidFill>
                  <a:srgbClr val="262B33"/>
                </a:solidFill>
              </a:rPr>
              <a:t>i</a:t>
            </a:r>
            <a:r>
              <a:rPr sz="1300" b="0" i="0" dirty="0">
                <a:solidFill>
                  <a:srgbClr val="262B33"/>
                </a:solidFill>
              </a:rPr>
              <a:t>), independent of |V|</a:t>
            </a:r>
          </a:p>
        </p:txBody>
      </p:sp>
      <p:pic>
        <p:nvPicPr>
          <p:cNvPr id="5" name="Picture 4" descr="slide04_img1.png"/>
          <p:cNvPicPr>
            <a:picLocks noChangeAspect="1"/>
          </p:cNvPicPr>
          <p:nvPr/>
        </p:nvPicPr>
        <p:blipFill>
          <a:blip r:embed="rId2"/>
          <a:srcRect t="8729"/>
          <a:stretch>
            <a:fillRect/>
          </a:stretch>
        </p:blipFill>
        <p:spPr>
          <a:xfrm>
            <a:off x="1601762" y="2714732"/>
            <a:ext cx="8981846" cy="36860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02 ·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>
                <a:solidFill>
                  <a:srgbClr val="1F385C"/>
                </a:solidFill>
              </a:rPr>
              <a:t>Algorithm 2 — Minibatch Forward Propagation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8483" y="1456422"/>
            <a:ext cx="10820095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dirty="0">
                <a:solidFill>
                  <a:srgbClr val="1F385C"/>
                </a:solidFill>
              </a:rPr>
              <a:t>Input: </a:t>
            </a:r>
            <a:r>
              <a:rPr sz="1200" b="0" i="0" dirty="0">
                <a:solidFill>
                  <a:srgbClr val="262B33"/>
                </a:solidFill>
              </a:rPr>
              <a:t>G(V,E), {</a:t>
            </a:r>
            <a:r>
              <a:rPr sz="1200" b="0" i="1" dirty="0">
                <a:solidFill>
                  <a:srgbClr val="262B33"/>
                </a:solidFill>
              </a:rPr>
              <a:t>x</a:t>
            </a:r>
            <a:r>
              <a:rPr sz="1200" b="0" i="1" baseline="-25000" dirty="0">
                <a:solidFill>
                  <a:srgbClr val="262B33"/>
                </a:solidFill>
              </a:rPr>
              <a:t>v</a:t>
            </a:r>
            <a:r>
              <a:rPr sz="1200" b="0" i="0" dirty="0">
                <a:solidFill>
                  <a:srgbClr val="262B33"/>
                </a:solidFill>
              </a:rPr>
              <a:t>}, depth </a:t>
            </a:r>
            <a:r>
              <a:rPr sz="1200" b="0" i="1" dirty="0">
                <a:solidFill>
                  <a:srgbClr val="262B33"/>
                </a:solidFill>
              </a:rPr>
              <a:t>K</a:t>
            </a:r>
            <a:r>
              <a:rPr sz="1200" b="0" i="0" dirty="0">
                <a:solidFill>
                  <a:srgbClr val="262B33"/>
                </a:solidFill>
              </a:rPr>
              <a:t>, {</a:t>
            </a:r>
            <a:r>
              <a:rPr sz="1200" b="0" i="1" dirty="0">
                <a:solidFill>
                  <a:srgbClr val="262B33"/>
                </a:solidFill>
              </a:rPr>
              <a:t>W</a:t>
            </a:r>
            <a:r>
              <a:rPr sz="1200" b="0" i="1" baseline="30000" dirty="0">
                <a:solidFill>
                  <a:srgbClr val="262B33"/>
                </a:solidFill>
              </a:rPr>
              <a:t>k</a:t>
            </a:r>
            <a:r>
              <a:rPr sz="1200" b="0" i="0" dirty="0">
                <a:solidFill>
                  <a:srgbClr val="262B33"/>
                </a:solidFill>
              </a:rPr>
              <a:t>}, σ, {AGGREGATE</a:t>
            </a:r>
            <a:r>
              <a:rPr sz="1200" b="0" i="1" baseline="-25000" dirty="0">
                <a:solidFill>
                  <a:srgbClr val="262B33"/>
                </a:solidFill>
              </a:rPr>
              <a:t>k</a:t>
            </a:r>
            <a:r>
              <a:rPr sz="1200" b="0" i="0" dirty="0">
                <a:solidFill>
                  <a:srgbClr val="262B33"/>
                </a:solidFill>
              </a:rPr>
              <a:t>}, {</a:t>
            </a:r>
            <a:r>
              <a:rPr sz="1200" b="0" i="1" dirty="0">
                <a:solidFill>
                  <a:srgbClr val="262B33"/>
                </a:solidFill>
              </a:rPr>
              <a:t>N</a:t>
            </a:r>
            <a:r>
              <a:rPr sz="1200" b="0" i="1" baseline="-25000" dirty="0">
                <a:solidFill>
                  <a:srgbClr val="262B33"/>
                </a:solidFill>
              </a:rPr>
              <a:t>k</a:t>
            </a:r>
            <a:r>
              <a:rPr sz="1200" b="0" i="0" dirty="0">
                <a:solidFill>
                  <a:srgbClr val="262B33"/>
                </a:solidFill>
              </a:rPr>
              <a:t>: v→2</a:t>
            </a:r>
            <a:r>
              <a:rPr sz="1200" b="0" i="0" baseline="30000" dirty="0">
                <a:solidFill>
                  <a:srgbClr val="262B33"/>
                </a:solidFill>
              </a:rPr>
              <a:t>V</a:t>
            </a:r>
            <a:r>
              <a:rPr sz="1200" b="0" i="0" dirty="0">
                <a:solidFill>
                  <a:srgbClr val="262B33"/>
                </a:solidFill>
              </a:rPr>
              <a:t>} — for k=1,...,K</a:t>
            </a:r>
          </a:p>
          <a:p>
            <a:pPr algn="l"/>
            <a:r>
              <a:rPr sz="1200" b="1" i="0" dirty="0">
                <a:solidFill>
                  <a:srgbClr val="1F385C"/>
                </a:solidFill>
              </a:rPr>
              <a:t>Output: </a:t>
            </a:r>
            <a:r>
              <a:rPr sz="1200" b="0" i="1" dirty="0">
                <a:solidFill>
                  <a:srgbClr val="262B33"/>
                </a:solidFill>
              </a:rPr>
              <a:t>embedding z</a:t>
            </a:r>
            <a:r>
              <a:rPr sz="1200" b="0" i="1" baseline="-25000" dirty="0">
                <a:solidFill>
                  <a:srgbClr val="262B33"/>
                </a:solidFill>
              </a:rPr>
              <a:t>u</a:t>
            </a:r>
            <a:r>
              <a:rPr sz="1200" b="0" i="0" dirty="0">
                <a:solidFill>
                  <a:srgbClr val="262B33"/>
                </a:solidFill>
              </a:rPr>
              <a:t>, ∀u∈B</a:t>
            </a:r>
          </a:p>
        </p:txBody>
      </p:sp>
      <p:sp>
        <p:nvSpPr>
          <p:cNvPr id="9001" name="pill"/>
          <p:cNvSpPr/>
          <p:nvPr/>
        </p:nvSpPr>
        <p:spPr>
          <a:xfrm>
            <a:off x="678485" y="2046024"/>
            <a:ext cx="6800000" cy="380000"/>
          </a:xfrm>
          <a:prstGeom prst="roundRect">
            <a:avLst>
              <a:gd name="adj" fmla="val 50000"/>
            </a:avLst>
          </a:prstGeom>
          <a:solidFill>
            <a:srgbClr val="8A3D15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PHASE 1 — BACKWARD SAMPLING (lines 1–7)</a:t>
            </a:r>
          </a:p>
        </p:txBody>
      </p:sp>
      <p:sp>
        <p:nvSpPr>
          <p:cNvPr id="9003" name="bar"/>
          <p:cNvSpPr/>
          <p:nvPr/>
        </p:nvSpPr>
        <p:spPr>
          <a:xfrm>
            <a:off x="678485" y="2516024"/>
            <a:ext cx="30000" cy="2100000"/>
          </a:xfrm>
          <a:prstGeom prst="rect">
            <a:avLst/>
          </a:prstGeom>
          <a:solidFill>
            <a:srgbClr val="8A3D1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04" name="TextBox 9003"/>
          <p:cNvSpPr txBox="1"/>
          <p:nvPr/>
        </p:nvSpPr>
        <p:spPr>
          <a:xfrm>
            <a:off x="898485" y="2516024"/>
            <a:ext cx="10600095" cy="2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1: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B</a:t>
            </a:r>
            <a:r>
              <a:rPr sz="1150" b="0" i="1" dirty="0">
                <a:solidFill>
                  <a:srgbClr val="6B7280"/>
                </a:solidFill>
              </a:rPr>
              <a:t>   start from the target minibatch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2: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for k = K,...,1 do</a:t>
            </a:r>
            <a:r>
              <a:rPr sz="1150" b="0" i="1" dirty="0">
                <a:solidFill>
                  <a:srgbClr val="6B7280"/>
                </a:solidFill>
              </a:rPr>
              <a:t>   expand outward, hop by hop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3:  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k−1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4:  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for u ∈ 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do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5:    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k−1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k−1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∪ N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(u)</a:t>
            </a:r>
            <a:r>
              <a:rPr sz="1150" b="0" i="1" dirty="0">
                <a:solidFill>
                  <a:srgbClr val="6B7280"/>
                </a:solidFill>
              </a:rPr>
              <a:t>   add u's sampled neighbors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6:  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end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7: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end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693485" y="4706024"/>
            <a:ext cx="10820095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1" dirty="0">
                <a:solidFill>
                  <a:srgbClr val="1F385C"/>
                </a:solidFill>
              </a:rPr>
              <a:t>Counterintuitive: </a:t>
            </a:r>
            <a:r>
              <a:rPr sz="1150" b="0" i="1" dirty="0">
                <a:solidFill>
                  <a:srgbClr val="6B7280"/>
                </a:solidFill>
              </a:rPr>
              <a:t>indices 1, 2 track Algorithm 1's hop order, not distance from the target.</a:t>
            </a:r>
          </a:p>
        </p:txBody>
      </p:sp>
      <p:sp>
        <p:nvSpPr>
          <p:cNvPr id="9002" name="card"/>
          <p:cNvSpPr/>
          <p:nvPr/>
        </p:nvSpPr>
        <p:spPr>
          <a:xfrm>
            <a:off x="678485" y="5238911"/>
            <a:ext cx="10820095" cy="5200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</p:spPr>
        <p:txBody>
          <a:bodyPr lIns="182880" tIns="91440" rIns="182880" bIns="91440" anchor="ctr"/>
          <a:lstStyle/>
          <a:p>
            <a:pPr algn="l"/>
            <a:r>
              <a:rPr sz="1200" b="1" i="0" dirty="0">
                <a:solidFill>
                  <a:srgbClr val="1F385C"/>
                </a:solidFill>
              </a:rPr>
              <a:t>This project: </a:t>
            </a:r>
            <a:r>
              <a:rPr sz="1200" b="0" i="1" dirty="0">
                <a:solidFill>
                  <a:srgbClr val="262B33"/>
                </a:solidFill>
              </a:rPr>
              <a:t>K=2, S</a:t>
            </a:r>
            <a:r>
              <a:rPr sz="1200" b="0" i="0" baseline="-25000" dirty="0">
                <a:solidFill>
                  <a:srgbClr val="262B33"/>
                </a:solidFill>
              </a:rPr>
              <a:t>1</a:t>
            </a:r>
            <a:r>
              <a:rPr sz="1200" b="0" i="1" dirty="0">
                <a:solidFill>
                  <a:srgbClr val="262B33"/>
                </a:solidFill>
              </a:rPr>
              <a:t>=25, S</a:t>
            </a:r>
            <a:r>
              <a:rPr sz="1200" b="0" i="0" baseline="-25000" dirty="0">
                <a:solidFill>
                  <a:srgbClr val="262B33"/>
                </a:solidFill>
              </a:rPr>
              <a:t>2</a:t>
            </a:r>
            <a:r>
              <a:rPr sz="1200" b="0" i="0" dirty="0">
                <a:solidFill>
                  <a:srgbClr val="262B33"/>
                </a:solidFill>
              </a:rPr>
              <a:t>=10 → S</a:t>
            </a:r>
            <a:r>
              <a:rPr sz="1200" b="0" i="0" baseline="-25000" dirty="0">
                <a:solidFill>
                  <a:srgbClr val="262B33"/>
                </a:solidFill>
              </a:rPr>
              <a:t>2</a:t>
            </a:r>
            <a:r>
              <a:rPr sz="1200" b="0" i="0" dirty="0">
                <a:solidFill>
                  <a:srgbClr val="262B33"/>
                </a:solidFill>
              </a:rPr>
              <a:t>=10 direct neighbors + S</a:t>
            </a:r>
            <a:r>
              <a:rPr sz="1200" b="0" i="0" baseline="-25000" dirty="0">
                <a:solidFill>
                  <a:srgbClr val="262B33"/>
                </a:solidFill>
              </a:rPr>
              <a:t>1</a:t>
            </a:r>
            <a:r>
              <a:rPr sz="1200" b="0" i="0" dirty="0">
                <a:solidFill>
                  <a:srgbClr val="262B33"/>
                </a:solidFill>
              </a:rPr>
              <a:t>·S</a:t>
            </a:r>
            <a:r>
              <a:rPr sz="1200" b="0" i="0" baseline="-25000" dirty="0">
                <a:solidFill>
                  <a:srgbClr val="262B33"/>
                </a:solidFill>
              </a:rPr>
              <a:t>2</a:t>
            </a:r>
            <a:r>
              <a:rPr sz="1200" b="0" i="0" dirty="0">
                <a:solidFill>
                  <a:srgbClr val="262B33"/>
                </a:solidFill>
              </a:rPr>
              <a:t>=250 two</a:t>
            </a:r>
            <a:r>
              <a:rPr lang="it-IT" sz="1200" b="0" i="0" dirty="0">
                <a:solidFill>
                  <a:srgbClr val="262B33"/>
                </a:solidFill>
              </a:rPr>
              <a:t> </a:t>
            </a:r>
            <a:r>
              <a:rPr sz="1200" b="0" i="0" dirty="0">
                <a:solidFill>
                  <a:srgbClr val="262B33"/>
                </a:solidFill>
              </a:rPr>
              <a:t>hop neighbors sampled per target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262B33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02 ·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>
                <a:solidFill>
                  <a:srgbClr val="1F385C"/>
                </a:solidFill>
              </a:rPr>
              <a:t>Algorithm 2 — Minibatch Forward Propagation (2/2)</a:t>
            </a:r>
          </a:p>
        </p:txBody>
      </p:sp>
      <p:sp>
        <p:nvSpPr>
          <p:cNvPr id="9001" name="pill"/>
          <p:cNvSpPr/>
          <p:nvPr/>
        </p:nvSpPr>
        <p:spPr>
          <a:xfrm>
            <a:off x="685800" y="1534660"/>
            <a:ext cx="7200000" cy="380000"/>
          </a:xfrm>
          <a:prstGeom prst="roundRect">
            <a:avLst>
              <a:gd name="adj" fmla="val 50000"/>
            </a:avLst>
          </a:prstGeom>
          <a:solidFill>
            <a:srgbClr val="0B6B47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PHASE 2 — FORWARD AGGREGATION (lines 8–16)</a:t>
            </a:r>
          </a:p>
        </p:txBody>
      </p:sp>
      <p:sp>
        <p:nvSpPr>
          <p:cNvPr id="9003" name="bar"/>
          <p:cNvSpPr/>
          <p:nvPr/>
        </p:nvSpPr>
        <p:spPr>
          <a:xfrm>
            <a:off x="685800" y="2004660"/>
            <a:ext cx="30000" cy="2700000"/>
          </a:xfrm>
          <a:prstGeom prst="rect">
            <a:avLst/>
          </a:prstGeom>
          <a:solidFill>
            <a:srgbClr val="0B6B4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04" name="TextBox 9003"/>
          <p:cNvSpPr txBox="1"/>
          <p:nvPr/>
        </p:nvSpPr>
        <p:spPr>
          <a:xfrm>
            <a:off x="905800" y="2004660"/>
            <a:ext cx="10600095" cy="2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 8: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0" baseline="30000" dirty="0">
                <a:solidFill>
                  <a:srgbClr val="262B33"/>
                </a:solidFill>
                <a:latin typeface="Consolas"/>
              </a:rPr>
              <a:t>0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x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, ∀u ∈ B</a:t>
            </a:r>
            <a:r>
              <a:rPr sz="1150" b="0" i="0" baseline="30000" dirty="0">
                <a:solidFill>
                  <a:srgbClr val="262B33"/>
                </a:solidFill>
                <a:latin typeface="Consolas"/>
              </a:rPr>
              <a:t>0</a:t>
            </a:r>
            <a:r>
              <a:rPr sz="1150" b="0" i="1" dirty="0">
                <a:solidFill>
                  <a:srgbClr val="6B7280"/>
                </a:solidFill>
              </a:rPr>
              <a:t>   leaf nodes start from raw features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 9: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for k = 1,...,K do</a:t>
            </a:r>
            <a:r>
              <a:rPr sz="1150" b="0" i="1" dirty="0">
                <a:solidFill>
                  <a:srgbClr val="6B7280"/>
                </a:solidFill>
              </a:rPr>
              <a:t>   now aggregate back inward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10:  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for u ∈ 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do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11:    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h</a:t>
            </a:r>
            <a:r>
              <a:rPr sz="1150" b="0" i="0" baseline="-25000" dirty="0">
                <a:solidFill>
                  <a:srgbClr val="262B33"/>
                </a:solidFill>
                <a:latin typeface="Consolas"/>
              </a:rPr>
              <a:t>N(u)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AGGREGATE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({h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u′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k−1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: u′∈N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(u)})</a:t>
            </a:r>
            <a:r>
              <a:rPr sz="1150" b="0" i="1" dirty="0">
                <a:solidFill>
                  <a:srgbClr val="6B7280"/>
                </a:solidFill>
              </a:rPr>
              <a:t>   aggregate sampled neighbors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12:    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σ(W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·CONCAT(h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k−1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, h</a:t>
            </a:r>
            <a:r>
              <a:rPr sz="1150" b="0" i="0" baseline="-25000" dirty="0">
                <a:solidFill>
                  <a:srgbClr val="262B33"/>
                </a:solidFill>
                <a:latin typeface="Consolas"/>
              </a:rPr>
              <a:t>N(u)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))</a:t>
            </a:r>
            <a:r>
              <a:rPr sz="1150" b="0" i="1" dirty="0">
                <a:solidFill>
                  <a:srgbClr val="6B7280"/>
                </a:solidFill>
              </a:rPr>
              <a:t>   combine with self, learned transform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13:  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end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14:  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/ ‖h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‖</a:t>
            </a:r>
            <a:r>
              <a:rPr sz="1150" b="0" i="0" baseline="-25000" dirty="0">
                <a:solidFill>
                  <a:srgbClr val="262B33"/>
                </a:solidFill>
                <a:latin typeface="Consolas"/>
              </a:rPr>
              <a:t>2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, ∀u ∈ 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1" dirty="0">
                <a:solidFill>
                  <a:srgbClr val="6B7280"/>
                </a:solidFill>
              </a:rPr>
              <a:t>   unit-normalize before next hop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15: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end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16: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z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, ∀u ∈ B</a:t>
            </a:r>
            <a:r>
              <a:rPr sz="1150" b="0" i="1" dirty="0">
                <a:solidFill>
                  <a:srgbClr val="6B7280"/>
                </a:solidFill>
              </a:rPr>
              <a:t>   final embedding after K hops</a:t>
            </a:r>
          </a:p>
        </p:txBody>
      </p:sp>
      <p:sp>
        <p:nvSpPr>
          <p:cNvPr id="9002" name="card"/>
          <p:cNvSpPr/>
          <p:nvPr/>
        </p:nvSpPr>
        <p:spPr>
          <a:xfrm>
            <a:off x="685952" y="4921828"/>
            <a:ext cx="10820095" cy="6200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</p:spPr>
        <p:txBody>
          <a:bodyPr lIns="182880" tIns="91440" rIns="182880" bIns="91440" anchor="ctr"/>
          <a:lstStyle/>
          <a:p>
            <a:pPr algn="l"/>
            <a:r>
              <a:rPr sz="1200" b="1" i="0" dirty="0">
                <a:solidFill>
                  <a:srgbClr val="1F385C"/>
                </a:solidFill>
              </a:rPr>
              <a:t>This project: </a:t>
            </a:r>
            <a:r>
              <a:rPr sz="1200" b="0" i="0" dirty="0">
                <a:solidFill>
                  <a:srgbClr val="262B33"/>
                </a:solidFill>
              </a:rPr>
              <a:t>batch</a:t>
            </a:r>
            <a:r>
              <a:rPr lang="it-IT" sz="1200" b="0" i="0" dirty="0">
                <a:solidFill>
                  <a:srgbClr val="262B33"/>
                </a:solidFill>
              </a:rPr>
              <a:t> </a:t>
            </a:r>
            <a:r>
              <a:rPr sz="1200" b="0" i="0" dirty="0">
                <a:solidFill>
                  <a:srgbClr val="262B33"/>
                </a:solidFill>
              </a:rPr>
              <a:t>size=512, hidden dim 128 (×2 when concatenated), 20 negative samples (unsupervised)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262B33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03 ·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PPI — Protein-Protein Interaction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1322"/>
            <a:ext cx="4724247" cy="1696277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1870" y="2311509"/>
            <a:ext cx="4312767" cy="817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 dirty="0">
                <a:solidFill>
                  <a:srgbClr val="1F385C"/>
                </a:solidFill>
              </a:rPr>
              <a:t>24 graphs</a:t>
            </a:r>
          </a:p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5606B"/>
                </a:solidFill>
              </a:rPr>
              <a:t>20 train / 2 </a:t>
            </a:r>
            <a:r>
              <a:rPr sz="1400" b="0" i="0" dirty="0" err="1">
                <a:solidFill>
                  <a:srgbClr val="55606B"/>
                </a:solidFill>
              </a:rPr>
              <a:t>val</a:t>
            </a:r>
            <a:r>
              <a:rPr sz="1400" b="0" i="0" dirty="0">
                <a:solidFill>
                  <a:srgbClr val="55606B"/>
                </a:solidFill>
              </a:rPr>
              <a:t> / 2 test split: cross-graph generalization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70167" y="1961322"/>
            <a:ext cx="4724247" cy="1696277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75906" y="2311509"/>
            <a:ext cx="4312767" cy="817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 dirty="0">
                <a:solidFill>
                  <a:srgbClr val="1F385C"/>
                </a:solidFill>
              </a:rPr>
              <a:t>56,944 nodes</a:t>
            </a:r>
          </a:p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5606B"/>
                </a:solidFill>
              </a:rPr>
              <a:t>total, across all 24 graphs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1" y="4155881"/>
            <a:ext cx="4724246" cy="1696277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1539" y="4506068"/>
            <a:ext cx="4312767" cy="8004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 dirty="0">
                <a:solidFill>
                  <a:srgbClr val="1F385C"/>
                </a:solidFill>
              </a:rPr>
              <a:t>121 GO terms</a:t>
            </a:r>
          </a:p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5606B"/>
                </a:solidFill>
              </a:rPr>
              <a:t>multi-label: a protein can have several functions at 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70167" y="4155881"/>
            <a:ext cx="4724247" cy="1696277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75906" y="4497444"/>
            <a:ext cx="4312767" cy="817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 dirty="0">
                <a:solidFill>
                  <a:srgbClr val="1F385C"/>
                </a:solidFill>
              </a:rPr>
              <a:t>50-dim features</a:t>
            </a:r>
          </a:p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5606B"/>
                </a:solidFill>
              </a:rPr>
              <a:t>positional/motif gene sets + immunological signatures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1" y="6126480"/>
            <a:ext cx="108200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i="1" dirty="0">
                <a:solidFill>
                  <a:srgbClr val="55606B"/>
                </a:solidFill>
              </a:rPr>
              <a:t>Source: PPI dataset, http://snap.stanford.edu/graphsage/ppi.zip — Hamilton, Ying &amp; Leskovec (2017)</a:t>
            </a:r>
          </a:p>
        </p:txBody>
      </p:sp>
      <p:pic>
        <p:nvPicPr>
          <p:cNvPr id="14" name="Immagine 13" descr="DDMut-PPI | Home">
            <a:extLst>
              <a:ext uri="{FF2B5EF4-FFF2-40B4-BE49-F238E27FC236}">
                <a16:creationId xmlns:a16="http://schemas.microsoft.com/office/drawing/2014/main" id="{8702B70E-4F80-98A4-A0FB-8E4DD56E34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071" y="275049"/>
            <a:ext cx="1439450" cy="14394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3">
            <a:extLst>
              <a:ext uri="{FF2B5EF4-FFF2-40B4-BE49-F238E27FC236}">
                <a16:creationId xmlns:a16="http://schemas.microsoft.com/office/drawing/2014/main" id="{79CF9481-303C-AAD8-39A3-6F089145B2B3}"/>
              </a:ext>
            </a:extLst>
          </p:cNvPr>
          <p:cNvSpPr/>
          <p:nvPr/>
        </p:nvSpPr>
        <p:spPr>
          <a:xfrm>
            <a:off x="685800" y="1988820"/>
            <a:ext cx="4952847" cy="28803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04 · OBJECTIVE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Two ways to train the same encoder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015" y="2345808"/>
            <a:ext cx="3599441" cy="1754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dirty="0">
                <a:solidFill>
                  <a:srgbClr val="1F385C"/>
                </a:solidFill>
              </a:rPr>
              <a:t>Unsupervised</a:t>
            </a:r>
          </a:p>
          <a:p>
            <a:pPr algn="l">
              <a:spcAft>
                <a:spcPts val="2000"/>
              </a:spcAft>
            </a:pPr>
            <a:r>
              <a:rPr sz="1300" b="0" i="0" dirty="0">
                <a:solidFill>
                  <a:srgbClr val="55606B"/>
                </a:solidFill>
              </a:rPr>
              <a:t>skip-gram style, Eq. 1</a:t>
            </a:r>
          </a:p>
          <a:p>
            <a:pPr algn="l">
              <a:spcAft>
                <a:spcPts val="1600"/>
              </a:spcAft>
            </a:pPr>
            <a:r>
              <a:rPr sz="1300" b="0" i="1" dirty="0">
                <a:solidFill>
                  <a:srgbClr val="1F385C"/>
                </a:solidFill>
              </a:rPr>
              <a:t>J</a:t>
            </a:r>
            <a:r>
              <a:rPr sz="1300" b="0" i="0" dirty="0">
                <a:solidFill>
                  <a:srgbClr val="1F385C"/>
                </a:solidFill>
              </a:rPr>
              <a:t>(</a:t>
            </a:r>
            <a:r>
              <a:rPr sz="1300" b="0" i="1" dirty="0">
                <a:solidFill>
                  <a:srgbClr val="1F385C"/>
                </a:solidFill>
              </a:rPr>
              <a:t>z</a:t>
            </a:r>
            <a:r>
              <a:rPr sz="1300" b="0" i="1" baseline="-25000" dirty="0">
                <a:solidFill>
                  <a:srgbClr val="1F385C"/>
                </a:solidFill>
              </a:rPr>
              <a:t>u</a:t>
            </a:r>
            <a:r>
              <a:rPr sz="1300" b="0" i="0" dirty="0">
                <a:solidFill>
                  <a:srgbClr val="1F385C"/>
                </a:solidFill>
              </a:rPr>
              <a:t>) = −log σ(</a:t>
            </a:r>
            <a:r>
              <a:rPr sz="1300" b="0" i="1" dirty="0">
                <a:solidFill>
                  <a:srgbClr val="1F385C"/>
                </a:solidFill>
              </a:rPr>
              <a:t>z</a:t>
            </a:r>
            <a:r>
              <a:rPr sz="1300" b="0" i="1" baseline="-25000" dirty="0">
                <a:solidFill>
                  <a:srgbClr val="1F385C"/>
                </a:solidFill>
              </a:rPr>
              <a:t>u</a:t>
            </a:r>
            <a:r>
              <a:rPr sz="1300" b="0" i="1" baseline="30000" dirty="0">
                <a:solidFill>
                  <a:srgbClr val="1F385C"/>
                </a:solidFill>
              </a:rPr>
              <a:t>T</a:t>
            </a:r>
            <a:r>
              <a:rPr sz="1300" b="0" i="1" dirty="0">
                <a:solidFill>
                  <a:srgbClr val="1F385C"/>
                </a:solidFill>
              </a:rPr>
              <a:t>z</a:t>
            </a:r>
            <a:r>
              <a:rPr sz="1300" b="0" i="1" baseline="-25000" dirty="0">
                <a:solidFill>
                  <a:srgbClr val="1F385C"/>
                </a:solidFill>
              </a:rPr>
              <a:t>v</a:t>
            </a:r>
            <a:r>
              <a:rPr sz="1300" b="0" i="0" dirty="0">
                <a:solidFill>
                  <a:srgbClr val="1F385C"/>
                </a:solidFill>
              </a:rPr>
              <a:t>) − </a:t>
            </a:r>
            <a:r>
              <a:rPr sz="1300" b="0" i="1" dirty="0">
                <a:solidFill>
                  <a:srgbClr val="1F385C"/>
                </a:solidFill>
              </a:rPr>
              <a:t>Q</a:t>
            </a:r>
            <a:r>
              <a:rPr sz="1300" b="0" i="0" dirty="0">
                <a:solidFill>
                  <a:srgbClr val="1F385C"/>
                </a:solidFill>
              </a:rPr>
              <a:t>·E[log σ(−</a:t>
            </a:r>
            <a:r>
              <a:rPr sz="1300" b="0" i="1" dirty="0">
                <a:solidFill>
                  <a:srgbClr val="1F385C"/>
                </a:solidFill>
              </a:rPr>
              <a:t>z</a:t>
            </a:r>
            <a:r>
              <a:rPr sz="1300" b="0" i="1" baseline="-25000" dirty="0">
                <a:solidFill>
                  <a:srgbClr val="1F385C"/>
                </a:solidFill>
              </a:rPr>
              <a:t>u</a:t>
            </a:r>
            <a:r>
              <a:rPr sz="1300" b="0" i="1" baseline="30000" dirty="0">
                <a:solidFill>
                  <a:srgbClr val="1F385C"/>
                </a:solidFill>
              </a:rPr>
              <a:t>T</a:t>
            </a:r>
            <a:r>
              <a:rPr sz="1300" b="0" i="1" dirty="0">
                <a:solidFill>
                  <a:srgbClr val="1F385C"/>
                </a:solidFill>
              </a:rPr>
              <a:t>z</a:t>
            </a:r>
            <a:r>
              <a:rPr sz="1300" b="0" i="1" baseline="-25000" dirty="0">
                <a:solidFill>
                  <a:srgbClr val="1F385C"/>
                </a:solidFill>
              </a:rPr>
              <a:t>vn</a:t>
            </a:r>
            <a:r>
              <a:rPr sz="1300" b="0" i="0" dirty="0">
                <a:solidFill>
                  <a:srgbClr val="1F385C"/>
                </a:solidFill>
              </a:rPr>
              <a:t>)]</a:t>
            </a:r>
          </a:p>
          <a:p>
            <a:pPr algn="l">
              <a:lnSpc>
                <a:spcPct val="125000"/>
              </a:lnSpc>
            </a:pPr>
            <a:r>
              <a:rPr sz="1300" b="0" i="0" dirty="0">
                <a:solidFill>
                  <a:srgbClr val="262B33"/>
                </a:solidFill>
              </a:rPr>
              <a:t>v co-occurs with u on a random walk; negatives sampled from </a:t>
            </a:r>
            <a:r>
              <a:rPr sz="1300" b="0" i="1" dirty="0">
                <a:solidFill>
                  <a:srgbClr val="262B33"/>
                </a:solidFill>
              </a:rPr>
              <a:t>P</a:t>
            </a:r>
            <a:r>
              <a:rPr sz="1300" b="0" i="1" baseline="-25000" dirty="0">
                <a:solidFill>
                  <a:srgbClr val="262B33"/>
                </a:solidFill>
              </a:rPr>
              <a:t>n</a:t>
            </a:r>
            <a:endParaRPr sz="1300" b="0" i="0" dirty="0">
              <a:solidFill>
                <a:srgbClr val="262B33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53048" y="1988821"/>
            <a:ext cx="4952847" cy="2880359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89044" y="2345808"/>
            <a:ext cx="3599441" cy="17768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2000" b="1" i="0" dirty="0">
                <a:solidFill>
                  <a:srgbClr val="1F385C"/>
                </a:solidFill>
              </a:rPr>
              <a:t>Supervised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00" b="0" i="0" dirty="0">
                <a:solidFill>
                  <a:srgbClr val="262B33"/>
                </a:solidFill>
              </a:rPr>
              <a:t>PPI is multi-label ⇒ per</a:t>
            </a:r>
            <a:r>
              <a:rPr lang="it-IT" sz="1300" b="0" i="0" dirty="0">
                <a:solidFill>
                  <a:srgbClr val="262B33"/>
                </a:solidFill>
              </a:rPr>
              <a:t> </a:t>
            </a:r>
            <a:r>
              <a:rPr sz="1300" b="0" i="0" dirty="0">
                <a:solidFill>
                  <a:srgbClr val="262B33"/>
                </a:solidFill>
              </a:rPr>
              <a:t>class sigmoid </a:t>
            </a:r>
            <a:r>
              <a:rPr sz="1300" b="0" i="1" dirty="0">
                <a:solidFill>
                  <a:srgbClr val="262B33"/>
                </a:solidFill>
              </a:rPr>
              <a:t>cross</a:t>
            </a:r>
            <a:r>
              <a:rPr lang="it-IT" sz="1300" b="0" i="1" dirty="0">
                <a:solidFill>
                  <a:srgbClr val="262B33"/>
                </a:solidFill>
              </a:rPr>
              <a:t> </a:t>
            </a:r>
            <a:r>
              <a:rPr sz="1300" b="0" i="1" dirty="0">
                <a:solidFill>
                  <a:srgbClr val="262B33"/>
                </a:solidFill>
              </a:rPr>
              <a:t>entropy</a:t>
            </a:r>
            <a:r>
              <a:rPr sz="1300" b="0" i="0" dirty="0">
                <a:solidFill>
                  <a:srgbClr val="262B33"/>
                </a:solidFill>
              </a:rPr>
              <a:t>, not </a:t>
            </a:r>
            <a:r>
              <a:rPr sz="1300" b="0" i="0" dirty="0" err="1">
                <a:solidFill>
                  <a:srgbClr val="262B33"/>
                </a:solidFill>
              </a:rPr>
              <a:t>softmax</a:t>
            </a:r>
            <a:endParaRPr sz="1300" b="0" i="0" dirty="0">
              <a:solidFill>
                <a:srgbClr val="262B33"/>
              </a:solidFill>
            </a:endParaRPr>
          </a:p>
          <a:p>
            <a:pPr algn="l">
              <a:lnSpc>
                <a:spcPct val="125000"/>
              </a:lnSpc>
            </a:pPr>
            <a:r>
              <a:rPr sz="1300" b="0" i="0" dirty="0">
                <a:solidFill>
                  <a:srgbClr val="262B33"/>
                </a:solidFill>
              </a:rPr>
              <a:t>Replaces (or complements) the unsupervised loss for the downstream task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7</a:t>
            </a:r>
          </a:p>
        </p:txBody>
      </p:sp>
      <p:sp>
        <p:nvSpPr>
          <p:cNvPr id="12" name="Oval 7">
            <a:extLst>
              <a:ext uri="{FF2B5EF4-FFF2-40B4-BE49-F238E27FC236}">
                <a16:creationId xmlns:a16="http://schemas.microsoft.com/office/drawing/2014/main" id="{F7D3ABF2-D9E7-9D81-2761-31FFCAC20D5E}"/>
              </a:ext>
            </a:extLst>
          </p:cNvPr>
          <p:cNvSpPr/>
          <p:nvPr/>
        </p:nvSpPr>
        <p:spPr>
          <a:xfrm>
            <a:off x="5812383" y="3145536"/>
            <a:ext cx="566928" cy="566928"/>
          </a:xfrm>
          <a:prstGeom prst="ellipse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it-IT" sz="1400" b="1" dirty="0">
                <a:solidFill>
                  <a:srgbClr val="FFFFFF"/>
                </a:solidFill>
              </a:rPr>
              <a:t>&amp;</a:t>
            </a:r>
            <a:endParaRPr sz="1400" b="1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04 · OBJECTIVE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 dirty="0">
                <a:solidFill>
                  <a:srgbClr val="1F385C"/>
                </a:solidFill>
              </a:rPr>
              <a:t>Eq. 1, intuitively: pull together, push apart</a:t>
            </a:r>
          </a:p>
        </p:txBody>
      </p:sp>
      <p:sp>
        <p:nvSpPr>
          <p:cNvPr id="9201" name="pill neg"/>
          <p:cNvSpPr/>
          <p:nvPr/>
        </p:nvSpPr>
        <p:spPr>
          <a:xfrm>
            <a:off x="685800" y="1700000"/>
            <a:ext cx="2200000" cy="550000"/>
          </a:xfrm>
          <a:prstGeom prst="roundRect">
            <a:avLst>
              <a:gd name="adj" fmla="val 50000"/>
            </a:avLst>
          </a:prstGeom>
          <a:solidFill>
            <a:srgbClr val="8A3D15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1" dirty="0">
                <a:solidFill>
                  <a:srgbClr val="FFFFFF"/>
                </a:solidFill>
              </a:rPr>
              <a:t>v</a:t>
            </a:r>
            <a:r>
              <a:rPr sz="1100" b="1" i="1" baseline="-25000" dirty="0">
                <a:solidFill>
                  <a:srgbClr val="FFFFFF"/>
                </a:solidFill>
              </a:rPr>
              <a:t>n</a:t>
            </a:r>
            <a:r>
              <a:rPr sz="1100" b="1" i="0" dirty="0">
                <a:solidFill>
                  <a:srgbClr val="FFFFFF"/>
                </a:solidFill>
              </a:rPr>
              <a:t> — negative (×Q)</a:t>
            </a:r>
          </a:p>
        </p:txBody>
      </p:sp>
      <p:sp>
        <p:nvSpPr>
          <p:cNvPr id="9202" name="arrow push"/>
          <p:cNvSpPr txBox="1"/>
          <p:nvPr/>
        </p:nvSpPr>
        <p:spPr>
          <a:xfrm>
            <a:off x="2885800" y="1700000"/>
            <a:ext cx="2110047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dirty="0">
                <a:solidFill>
                  <a:srgbClr val="8A3D15"/>
                </a:solidFill>
              </a:rPr>
              <a:t>→</a:t>
            </a:r>
          </a:p>
        </p:txBody>
      </p:sp>
      <p:sp>
        <p:nvSpPr>
          <p:cNvPr id="9203" name="pill hub"/>
          <p:cNvSpPr/>
          <p:nvPr/>
        </p:nvSpPr>
        <p:spPr>
          <a:xfrm>
            <a:off x="4995847" y="1700000"/>
            <a:ext cx="2200000" cy="5500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1" dirty="0">
                <a:solidFill>
                  <a:srgbClr val="FFFFFF"/>
                </a:solidFill>
              </a:rPr>
              <a:t>u</a:t>
            </a:r>
            <a:r>
              <a:rPr sz="1100" b="1" i="0" dirty="0">
                <a:solidFill>
                  <a:srgbClr val="FFFFFF"/>
                </a:solidFill>
              </a:rPr>
              <a:t> — target node</a:t>
            </a:r>
          </a:p>
        </p:txBody>
      </p:sp>
      <p:sp>
        <p:nvSpPr>
          <p:cNvPr id="9204" name="arrow pull"/>
          <p:cNvSpPr txBox="1"/>
          <p:nvPr/>
        </p:nvSpPr>
        <p:spPr>
          <a:xfrm>
            <a:off x="7195847" y="1700000"/>
            <a:ext cx="2110047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dirty="0">
                <a:solidFill>
                  <a:srgbClr val="0B6B47"/>
                </a:solidFill>
              </a:rPr>
              <a:t>→</a:t>
            </a:r>
          </a:p>
        </p:txBody>
      </p:sp>
      <p:sp>
        <p:nvSpPr>
          <p:cNvPr id="9205" name="pill pos"/>
          <p:cNvSpPr/>
          <p:nvPr/>
        </p:nvSpPr>
        <p:spPr>
          <a:xfrm>
            <a:off x="9305894" y="1700000"/>
            <a:ext cx="2200000" cy="5500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1" dirty="0">
                <a:solidFill>
                  <a:srgbClr val="FFFFFF"/>
                </a:solidFill>
              </a:rPr>
              <a:t>v</a:t>
            </a:r>
            <a:r>
              <a:rPr sz="1100" b="1" i="0" dirty="0">
                <a:solidFill>
                  <a:srgbClr val="FFFFFF"/>
                </a:solidFill>
              </a:rPr>
              <a:t> — positive</a:t>
            </a:r>
          </a:p>
        </p:txBody>
      </p:sp>
      <p:sp>
        <p:nvSpPr>
          <p:cNvPr id="9206" name="caption push"/>
          <p:cNvSpPr txBox="1"/>
          <p:nvPr/>
        </p:nvSpPr>
        <p:spPr>
          <a:xfrm>
            <a:off x="2885800" y="2270000"/>
            <a:ext cx="2110047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dirty="0">
                <a:solidFill>
                  <a:srgbClr val="8A3D15"/>
                </a:solidFill>
              </a:rPr>
              <a:t>push apart</a:t>
            </a:r>
          </a:p>
        </p:txBody>
      </p:sp>
      <p:sp>
        <p:nvSpPr>
          <p:cNvPr id="9207" name="caption pull"/>
          <p:cNvSpPr txBox="1"/>
          <p:nvPr/>
        </p:nvSpPr>
        <p:spPr>
          <a:xfrm>
            <a:off x="7195847" y="2270000"/>
            <a:ext cx="2110047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dirty="0">
                <a:solidFill>
                  <a:srgbClr val="0B6B47"/>
                </a:solidFill>
              </a:rPr>
              <a:t>pull together</a:t>
            </a:r>
          </a:p>
        </p:txBody>
      </p:sp>
      <p:sp>
        <p:nvSpPr>
          <p:cNvPr id="9208" name="card negative"/>
          <p:cNvSpPr/>
          <p:nvPr/>
        </p:nvSpPr>
        <p:spPr>
          <a:xfrm>
            <a:off x="685800" y="2750000"/>
            <a:ext cx="4952847" cy="2200000"/>
          </a:xfrm>
          <a:prstGeom prst="roundRect">
            <a:avLst>
              <a:gd name="adj" fmla="val 3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</p:spPr>
        <p:txBody>
          <a:bodyPr lIns="182880" tIns="182880" rIns="182880" bIns="182880" anchor="ctr"/>
          <a:lstStyle/>
          <a:p>
            <a:pPr algn="ctr">
              <a:spcAft>
                <a:spcPts val="1200"/>
              </a:spcAft>
            </a:pPr>
            <a:r>
              <a:rPr sz="1600" b="0" i="0" dirty="0">
                <a:solidFill>
                  <a:srgbClr val="8A3D15"/>
                </a:solidFill>
              </a:rPr>
              <a:t>− </a:t>
            </a:r>
            <a:r>
              <a:rPr sz="1600" b="0" i="1" dirty="0">
                <a:solidFill>
                  <a:srgbClr val="8A3D15"/>
                </a:solidFill>
              </a:rPr>
              <a:t>Q</a:t>
            </a:r>
            <a:r>
              <a:rPr sz="1600" b="0" i="0" dirty="0">
                <a:solidFill>
                  <a:srgbClr val="8A3D15"/>
                </a:solidFill>
              </a:rPr>
              <a:t>·E[log σ(−</a:t>
            </a:r>
            <a:r>
              <a:rPr sz="1600" b="0" i="1" dirty="0">
                <a:solidFill>
                  <a:srgbClr val="8A3D15"/>
                </a:solidFill>
              </a:rPr>
              <a:t>z</a:t>
            </a:r>
            <a:r>
              <a:rPr sz="1600" b="0" i="1" baseline="-25000" dirty="0">
                <a:solidFill>
                  <a:srgbClr val="8A3D15"/>
                </a:solidFill>
              </a:rPr>
              <a:t>u</a:t>
            </a:r>
            <a:r>
              <a:rPr sz="1600" b="0" i="1" baseline="30000" dirty="0">
                <a:solidFill>
                  <a:srgbClr val="8A3D15"/>
                </a:solidFill>
              </a:rPr>
              <a:t>T</a:t>
            </a:r>
            <a:r>
              <a:rPr sz="1600" b="0" i="1" dirty="0">
                <a:solidFill>
                  <a:srgbClr val="8A3D15"/>
                </a:solidFill>
              </a:rPr>
              <a:t>z</a:t>
            </a:r>
            <a:r>
              <a:rPr sz="1600" b="0" i="1" baseline="-25000" dirty="0">
                <a:solidFill>
                  <a:srgbClr val="8A3D15"/>
                </a:solidFill>
              </a:rPr>
              <a:t>vn</a:t>
            </a:r>
            <a:r>
              <a:rPr sz="1600" b="0" i="0" dirty="0">
                <a:solidFill>
                  <a:srgbClr val="8A3D15"/>
                </a:solidFill>
              </a:rPr>
              <a:t>)]</a:t>
            </a:r>
          </a:p>
          <a:p>
            <a:pPr algn="ctr"/>
            <a:r>
              <a:rPr sz="1300" b="1" i="0" dirty="0">
                <a:solidFill>
                  <a:srgbClr val="262B33"/>
                </a:solidFill>
              </a:rPr>
              <a:t>↓</a:t>
            </a:r>
            <a:r>
              <a:rPr sz="1300" b="0" i="0" dirty="0">
                <a:solidFill>
                  <a:srgbClr val="262B33"/>
                </a:solidFill>
              </a:rPr>
              <a:t> similarity to negative samples</a:t>
            </a:r>
            <a:r>
              <a:rPr lang="it-IT" sz="1300" b="0" i="0" dirty="0">
                <a:solidFill>
                  <a:srgbClr val="262B33"/>
                </a:solidFill>
              </a:rPr>
              <a:t>. </a:t>
            </a:r>
            <a:r>
              <a:rPr lang="it-IT" sz="1300" b="1" i="1" dirty="0">
                <a:solidFill>
                  <a:srgbClr val="262B33"/>
                </a:solidFill>
              </a:rPr>
              <a:t>P</a:t>
            </a:r>
            <a:r>
              <a:rPr sz="1300" b="1" i="1" dirty="0" err="1">
                <a:solidFill>
                  <a:srgbClr val="262B33"/>
                </a:solidFill>
              </a:rPr>
              <a:t>enalizes</a:t>
            </a:r>
            <a:r>
              <a:rPr sz="1300" b="0" i="0" dirty="0">
                <a:solidFill>
                  <a:srgbClr val="262B33"/>
                </a:solidFill>
              </a:rPr>
              <a:t> random nodes that don’t co-occur with u</a:t>
            </a:r>
          </a:p>
        </p:txBody>
      </p:sp>
      <p:sp>
        <p:nvSpPr>
          <p:cNvPr id="9209" name="card positive"/>
          <p:cNvSpPr/>
          <p:nvPr/>
        </p:nvSpPr>
        <p:spPr>
          <a:xfrm>
            <a:off x="6553048" y="2750000"/>
            <a:ext cx="4952847" cy="2200000"/>
          </a:xfrm>
          <a:prstGeom prst="roundRect">
            <a:avLst>
              <a:gd name="adj" fmla="val 3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</p:spPr>
        <p:txBody>
          <a:bodyPr lIns="182880" tIns="182880" rIns="182880" bIns="182880" anchor="ctr"/>
          <a:lstStyle/>
          <a:p>
            <a:pPr algn="ctr">
              <a:spcAft>
                <a:spcPts val="1200"/>
              </a:spcAft>
            </a:pPr>
            <a:r>
              <a:rPr sz="1600" b="0" i="0" dirty="0">
                <a:solidFill>
                  <a:srgbClr val="0B6B47"/>
                </a:solidFill>
              </a:rPr>
              <a:t>−log σ(</a:t>
            </a:r>
            <a:r>
              <a:rPr sz="1600" b="0" i="1" dirty="0">
                <a:solidFill>
                  <a:srgbClr val="0B6B47"/>
                </a:solidFill>
              </a:rPr>
              <a:t>z</a:t>
            </a:r>
            <a:r>
              <a:rPr sz="1600" b="0" i="1" baseline="-25000" dirty="0">
                <a:solidFill>
                  <a:srgbClr val="0B6B47"/>
                </a:solidFill>
              </a:rPr>
              <a:t>u</a:t>
            </a:r>
            <a:r>
              <a:rPr sz="1600" b="0" i="1" baseline="30000" dirty="0">
                <a:solidFill>
                  <a:srgbClr val="0B6B47"/>
                </a:solidFill>
              </a:rPr>
              <a:t>T</a:t>
            </a:r>
            <a:r>
              <a:rPr sz="1600" b="0" i="1" dirty="0">
                <a:solidFill>
                  <a:srgbClr val="0B6B47"/>
                </a:solidFill>
              </a:rPr>
              <a:t>z</a:t>
            </a:r>
            <a:r>
              <a:rPr sz="1600" b="0" i="1" baseline="-25000" dirty="0">
                <a:solidFill>
                  <a:srgbClr val="0B6B47"/>
                </a:solidFill>
              </a:rPr>
              <a:t>v</a:t>
            </a:r>
            <a:r>
              <a:rPr sz="1600" b="0" i="0" dirty="0">
                <a:solidFill>
                  <a:srgbClr val="0B6B47"/>
                </a:solidFill>
              </a:rPr>
              <a:t>)</a:t>
            </a:r>
          </a:p>
          <a:p>
            <a:pPr algn="ctr"/>
            <a:r>
              <a:rPr sz="1300" b="1" i="0" dirty="0">
                <a:solidFill>
                  <a:srgbClr val="262B33"/>
                </a:solidFill>
              </a:rPr>
              <a:t>↑</a:t>
            </a:r>
            <a:r>
              <a:rPr sz="1300" b="0" i="0" dirty="0">
                <a:solidFill>
                  <a:srgbClr val="262B33"/>
                </a:solidFill>
              </a:rPr>
              <a:t> similarity to the positive</a:t>
            </a:r>
            <a:r>
              <a:rPr lang="it-IT" sz="1300" b="0" i="0" dirty="0">
                <a:solidFill>
                  <a:srgbClr val="262B33"/>
                </a:solidFill>
              </a:rPr>
              <a:t>. </a:t>
            </a:r>
            <a:r>
              <a:rPr lang="it-IT" sz="1300" b="1" i="1" dirty="0">
                <a:solidFill>
                  <a:srgbClr val="262B33"/>
                </a:solidFill>
              </a:rPr>
              <a:t>R</a:t>
            </a:r>
            <a:r>
              <a:rPr sz="1300" b="1" i="1" dirty="0" err="1">
                <a:solidFill>
                  <a:srgbClr val="262B33"/>
                </a:solidFill>
              </a:rPr>
              <a:t>ewards</a:t>
            </a:r>
            <a:r>
              <a:rPr sz="1300" b="0" i="0" dirty="0">
                <a:solidFill>
                  <a:srgbClr val="262B33"/>
                </a:solidFill>
              </a:rPr>
              <a:t> nodes that co-occur with u on a random walk</a:t>
            </a:r>
          </a:p>
        </p:txBody>
      </p:sp>
      <p:sp>
        <p:nvSpPr>
          <p:cNvPr id="9210" name="TextBox note"/>
          <p:cNvSpPr txBox="1"/>
          <p:nvPr/>
        </p:nvSpPr>
        <p:spPr>
          <a:xfrm>
            <a:off x="685800" y="5150000"/>
            <a:ext cx="10820095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dirty="0">
                <a:solidFill>
                  <a:srgbClr val="1F385C"/>
                </a:solidFill>
              </a:rPr>
              <a:t>Not a lookup table: </a:t>
            </a:r>
            <a:r>
              <a:rPr sz="1250" b="0" i="0" dirty="0">
                <a:solidFill>
                  <a:srgbClr val="262B33"/>
                </a:solidFill>
              </a:rPr>
              <a:t>zᵤ and zᵥ are generated by Algorithm 1 from each node’s local neighborhood </a:t>
            </a:r>
            <a:r>
              <a:rPr lang="it-IT" sz="1250" b="0" i="0" dirty="0">
                <a:solidFill>
                  <a:srgbClr val="262B33"/>
                </a:solidFill>
              </a:rPr>
              <a:t>and</a:t>
            </a:r>
            <a:r>
              <a:rPr sz="1250" b="0" i="0" dirty="0">
                <a:solidFill>
                  <a:srgbClr val="262B33"/>
                </a:solidFill>
              </a:rPr>
              <a:t> the same aggregator weights are reused for every node.</a:t>
            </a:r>
          </a:p>
        </p:txBody>
      </p:sp>
      <p:sp>
        <p:nvSpPr>
          <p:cNvPr id="9211" name="TextBox footer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05 · AGGREGATOR ARCHITECTURES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Four ways to combine neighbor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2350"/>
            <a:ext cx="10820095" cy="1214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Mean / GCN</a:t>
            </a:r>
            <a:r>
              <a:rPr sz="1300" b="0" i="0" dirty="0">
                <a:solidFill>
                  <a:srgbClr val="262B33"/>
                </a:solidFill>
              </a:rPr>
              <a:t>: elementwise average of neighbors; GCN drops the self skip</a:t>
            </a:r>
            <a:r>
              <a:rPr lang="it-IT" sz="1300" b="0" i="0" dirty="0">
                <a:solidFill>
                  <a:srgbClr val="262B33"/>
                </a:solidFill>
              </a:rPr>
              <a:t> </a:t>
            </a:r>
            <a:r>
              <a:rPr sz="1300" b="0" i="0" dirty="0">
                <a:solidFill>
                  <a:srgbClr val="262B33"/>
                </a:solidFill>
              </a:rPr>
              <a:t>connection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GCN's width</a:t>
            </a:r>
            <a:r>
              <a:rPr sz="1300" b="0" i="0" dirty="0">
                <a:solidFill>
                  <a:srgbClr val="262B33"/>
                </a:solidFill>
              </a:rPr>
              <a:t>: doubled in code to match parameter counts with the concat aggregators</a:t>
            </a:r>
            <a:r>
              <a:rPr lang="it-IT" sz="1300" b="0" i="0" dirty="0">
                <a:solidFill>
                  <a:srgbClr val="262B33"/>
                </a:solidFill>
              </a:rPr>
              <a:t> —</a:t>
            </a:r>
            <a:r>
              <a:rPr sz="1300" b="0" i="0" dirty="0">
                <a:solidFill>
                  <a:srgbClr val="262B33"/>
                </a:solidFill>
              </a:rPr>
              <a:t> no skip connection to make up the difference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Pool</a:t>
            </a:r>
            <a:r>
              <a:rPr sz="1300" b="0" i="0" dirty="0">
                <a:solidFill>
                  <a:srgbClr val="262B33"/>
                </a:solidFill>
              </a:rPr>
              <a:t>: each neighbor through a shared MLP, then elementwise </a:t>
            </a:r>
            <a:r>
              <a:rPr sz="1300" b="1" i="0" dirty="0">
                <a:solidFill>
                  <a:srgbClr val="1F385C"/>
                </a:solidFill>
              </a:rPr>
              <a:t>max</a:t>
            </a:r>
            <a:r>
              <a:rPr lang="it-IT" sz="1300" b="1" i="0" dirty="0">
                <a:solidFill>
                  <a:srgbClr val="1F385C"/>
                </a:solidFill>
              </a:rPr>
              <a:t>  </a:t>
            </a:r>
            <a:r>
              <a:rPr lang="it-IT" sz="1300" b="1" i="0" dirty="0">
                <a:solidFill>
                  <a:srgbClr val="1F385C"/>
                </a:solidFill>
                <a:sym typeface="Wingdings" panose="05000000000000000000" pitchFamily="2" charset="2"/>
              </a:rPr>
              <a:t>  </a:t>
            </a:r>
            <a:endParaRPr sz="1300" b="1" i="0" dirty="0">
              <a:solidFill>
                <a:srgbClr val="1F385C"/>
              </a:solidFill>
            </a:endParaRP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LSTM</a:t>
            </a:r>
            <a:r>
              <a:rPr sz="1300" b="0" i="0" dirty="0">
                <a:solidFill>
                  <a:srgbClr val="262B33"/>
                </a:solidFill>
              </a:rPr>
              <a:t>: neighbors fed in </a:t>
            </a:r>
            <a:r>
              <a:rPr sz="1300" b="1" i="0" dirty="0">
                <a:solidFill>
                  <a:srgbClr val="1F385C"/>
                </a:solidFill>
              </a:rPr>
              <a:t>random order</a:t>
            </a:r>
            <a:r>
              <a:rPr sz="1300" b="0" i="0" dirty="0">
                <a:solidFill>
                  <a:srgbClr val="262B33"/>
                </a:solidFill>
              </a:rPr>
              <a:t>: not permutation</a:t>
            </a:r>
            <a:r>
              <a:rPr lang="it-IT" sz="1300" b="0" i="0" dirty="0">
                <a:solidFill>
                  <a:srgbClr val="262B33"/>
                </a:solidFill>
              </a:rPr>
              <a:t> </a:t>
            </a:r>
            <a:r>
              <a:rPr sz="1300" b="0" i="0" dirty="0">
                <a:solidFill>
                  <a:srgbClr val="262B33"/>
                </a:solidFill>
              </a:rPr>
              <a:t>invariant in theory, but strong in practice</a:t>
            </a:r>
          </a:p>
        </p:txBody>
      </p:sp>
      <p:sp>
        <p:nvSpPr>
          <p:cNvPr id="100" name="TextBox Formula"/>
          <p:cNvSpPr txBox="1"/>
          <p:nvPr/>
        </p:nvSpPr>
        <p:spPr>
          <a:xfrm>
            <a:off x="5717141" y="2072265"/>
            <a:ext cx="371158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 dirty="0">
                <a:solidFill>
                  <a:srgbClr val="1F385C"/>
                </a:solidFill>
              </a:rPr>
              <a:t>AGGREGATE</a:t>
            </a:r>
            <a:r>
              <a:rPr sz="1400" b="0" i="1" baseline="-25000" dirty="0">
                <a:solidFill>
                  <a:srgbClr val="1F385C"/>
                </a:solidFill>
              </a:rPr>
              <a:t>k</a:t>
            </a:r>
            <a:r>
              <a:rPr sz="1400" b="0" i="1" baseline="30000" dirty="0">
                <a:solidFill>
                  <a:srgbClr val="1F385C"/>
                </a:solidFill>
              </a:rPr>
              <a:t>pool</a:t>
            </a:r>
            <a:r>
              <a:rPr sz="1400" b="0" i="0" dirty="0">
                <a:solidFill>
                  <a:srgbClr val="1F385C"/>
                </a:solidFill>
              </a:rPr>
              <a:t> = max({σ(</a:t>
            </a:r>
            <a:r>
              <a:rPr sz="1400" b="0" i="1" dirty="0">
                <a:solidFill>
                  <a:srgbClr val="1F385C"/>
                </a:solidFill>
              </a:rPr>
              <a:t>W</a:t>
            </a:r>
            <a:r>
              <a:rPr sz="1400" b="0" i="1" baseline="-25000" dirty="0">
                <a:solidFill>
                  <a:srgbClr val="1F385C"/>
                </a:solidFill>
              </a:rPr>
              <a:t>pool</a:t>
            </a:r>
            <a:r>
              <a:rPr sz="1400" b="0" i="1" dirty="0">
                <a:solidFill>
                  <a:srgbClr val="1F385C"/>
                </a:solidFill>
              </a:rPr>
              <a:t>h</a:t>
            </a:r>
            <a:r>
              <a:rPr sz="1400" b="0" i="1" baseline="-25000" dirty="0">
                <a:solidFill>
                  <a:srgbClr val="1F385C"/>
                </a:solidFill>
              </a:rPr>
              <a:t>ui</a:t>
            </a:r>
            <a:r>
              <a:rPr sz="1400" b="0" i="1" baseline="30000" dirty="0">
                <a:solidFill>
                  <a:srgbClr val="1F385C"/>
                </a:solidFill>
              </a:rPr>
              <a:t>k</a:t>
            </a:r>
            <a:r>
              <a:rPr sz="1400" b="0" i="0" dirty="0">
                <a:solidFill>
                  <a:srgbClr val="1F385C"/>
                </a:solidFill>
              </a:rPr>
              <a:t> + b), ∀</a:t>
            </a:r>
            <a:r>
              <a:rPr sz="1400" b="0" i="1" dirty="0">
                <a:solidFill>
                  <a:srgbClr val="1F385C"/>
                </a:solidFill>
              </a:rPr>
              <a:t>u</a:t>
            </a:r>
            <a:r>
              <a:rPr sz="1400" b="0" i="1" baseline="-25000" dirty="0">
                <a:solidFill>
                  <a:srgbClr val="1F385C"/>
                </a:solidFill>
              </a:rPr>
              <a:t>i</a:t>
            </a:r>
            <a:r>
              <a:rPr sz="1400" b="0" i="0" dirty="0">
                <a:solidFill>
                  <a:srgbClr val="1F385C"/>
                </a:solidFill>
              </a:rPr>
              <a:t> ∈ N(v)})</a:t>
            </a:r>
          </a:p>
        </p:txBody>
      </p:sp>
      <p:pic>
        <p:nvPicPr>
          <p:cNvPr id="5" name="Picture 4" descr="slide07_img2.png"/>
          <p:cNvPicPr>
            <a:picLocks noChangeAspect="1"/>
          </p:cNvPicPr>
          <p:nvPr/>
        </p:nvPicPr>
        <p:blipFill>
          <a:blip r:embed="rId2"/>
          <a:srcRect t="4315"/>
          <a:stretch>
            <a:fillRect/>
          </a:stretch>
        </p:blipFill>
        <p:spPr>
          <a:xfrm>
            <a:off x="3148091" y="2802835"/>
            <a:ext cx="5895511" cy="36894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06 · THEORETICAL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Theorem 1</a:t>
            </a:r>
          </a:p>
        </p:txBody>
      </p:sp>
      <p:sp>
        <p:nvSpPr>
          <p:cNvPr id="1001" name="pill"/>
          <p:cNvSpPr/>
          <p:nvPr/>
        </p:nvSpPr>
        <p:spPr>
          <a:xfrm>
            <a:off x="1872246" y="1914939"/>
            <a:ext cx="2805772" cy="535061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HYPOTHESES</a:t>
            </a:r>
          </a:p>
        </p:txBody>
      </p:sp>
      <p:sp>
        <p:nvSpPr>
          <p:cNvPr id="1002" name="pill"/>
          <p:cNvSpPr/>
          <p:nvPr/>
        </p:nvSpPr>
        <p:spPr>
          <a:xfrm>
            <a:off x="7513984" y="1914939"/>
            <a:ext cx="2805772" cy="535061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OBJECTIVE</a:t>
            </a:r>
          </a:p>
        </p:txBody>
      </p:sp>
      <p:sp>
        <p:nvSpPr>
          <p:cNvPr id="1003" name="TextBox Hypotheses"/>
          <p:cNvSpPr txBox="1"/>
          <p:nvPr/>
        </p:nvSpPr>
        <p:spPr>
          <a:xfrm>
            <a:off x="685800" y="2600000"/>
            <a:ext cx="5185047" cy="6565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 dirty="0">
                <a:solidFill>
                  <a:srgbClr val="1F385C"/>
                </a:solidFill>
              </a:rPr>
              <a:t>Let </a:t>
            </a:r>
            <a:r>
              <a:rPr sz="1150" b="0" i="1" dirty="0">
                <a:solidFill>
                  <a:srgbClr val="1F385C"/>
                </a:solidFill>
              </a:rPr>
              <a:t>x</a:t>
            </a:r>
            <a:r>
              <a:rPr sz="1150" b="0" i="1" baseline="-25000" dirty="0">
                <a:solidFill>
                  <a:srgbClr val="1F385C"/>
                </a:solidFill>
              </a:rPr>
              <a:t>v</a:t>
            </a:r>
            <a:r>
              <a:rPr sz="1150" b="0" i="0" dirty="0">
                <a:solidFill>
                  <a:srgbClr val="1F385C"/>
                </a:solidFill>
              </a:rPr>
              <a:t> ∈ </a:t>
            </a:r>
            <a:r>
              <a:rPr sz="1150" b="0" i="1" dirty="0">
                <a:solidFill>
                  <a:srgbClr val="1F385C"/>
                </a:solidFill>
              </a:rPr>
              <a:t>U</a:t>
            </a:r>
            <a:r>
              <a:rPr sz="1150" b="0" i="0" dirty="0">
                <a:solidFill>
                  <a:srgbClr val="1F385C"/>
                </a:solidFill>
              </a:rPr>
              <a:t> ⊆ </a:t>
            </a:r>
            <a:r>
              <a:rPr sz="1150" b="0" i="1" dirty="0">
                <a:solidFill>
                  <a:srgbClr val="1F385C"/>
                </a:solidFill>
              </a:rPr>
              <a:t>R</a:t>
            </a:r>
            <a:r>
              <a:rPr sz="1150" b="0" i="1" baseline="30000" dirty="0">
                <a:solidFill>
                  <a:srgbClr val="1F385C"/>
                </a:solidFill>
              </a:rPr>
              <a:t>d</a:t>
            </a:r>
            <a:r>
              <a:rPr sz="1150" b="0" i="0" dirty="0">
                <a:solidFill>
                  <a:srgbClr val="1F385C"/>
                </a:solidFill>
              </a:rPr>
              <a:t>, ∀</a:t>
            </a:r>
            <a:r>
              <a:rPr sz="1150" b="0" i="1" dirty="0">
                <a:solidFill>
                  <a:srgbClr val="1F385C"/>
                </a:solidFill>
              </a:rPr>
              <a:t>v</a:t>
            </a:r>
            <a:r>
              <a:rPr sz="1150" b="0" i="0" dirty="0">
                <a:solidFill>
                  <a:srgbClr val="1F385C"/>
                </a:solidFill>
              </a:rPr>
              <a:t> ∈ </a:t>
            </a:r>
            <a:r>
              <a:rPr sz="1150" b="0" i="1" dirty="0">
                <a:solidFill>
                  <a:srgbClr val="1F385C"/>
                </a:solidFill>
              </a:rPr>
              <a:t>V</a:t>
            </a:r>
            <a:r>
              <a:rPr sz="1150" b="0" i="0" dirty="0">
                <a:solidFill>
                  <a:srgbClr val="1F385C"/>
                </a:solidFill>
              </a:rPr>
              <a:t> (</a:t>
            </a:r>
            <a:r>
              <a:rPr sz="1150" b="0" i="1" dirty="0">
                <a:solidFill>
                  <a:srgbClr val="1F385C"/>
                </a:solidFill>
              </a:rPr>
              <a:t>U</a:t>
            </a:r>
            <a:r>
              <a:rPr sz="1150" b="0" i="0" dirty="0">
                <a:solidFill>
                  <a:srgbClr val="1F385C"/>
                </a:solidFill>
              </a:rPr>
              <a:t> compact).</a:t>
            </a:r>
          </a:p>
          <a:p>
            <a:pPr algn="ctr">
              <a:spcAft>
                <a:spcPts val="400"/>
              </a:spcAft>
            </a:pPr>
            <a:r>
              <a:rPr sz="1150" b="1" i="0" dirty="0">
                <a:solidFill>
                  <a:srgbClr val="1F385C"/>
                </a:solidFill>
              </a:rPr>
              <a:t>Suppose ∃ </a:t>
            </a:r>
            <a:r>
              <a:rPr sz="1150" b="0" i="1" dirty="0">
                <a:solidFill>
                  <a:srgbClr val="1F385C"/>
                </a:solidFill>
              </a:rPr>
              <a:t>C</a:t>
            </a:r>
            <a:r>
              <a:rPr sz="1150" b="0" i="0" dirty="0">
                <a:solidFill>
                  <a:srgbClr val="1F385C"/>
                </a:solidFill>
              </a:rPr>
              <a:t> ∈ </a:t>
            </a:r>
            <a:r>
              <a:rPr sz="1150" b="0" i="1" dirty="0">
                <a:solidFill>
                  <a:srgbClr val="1F385C"/>
                </a:solidFill>
              </a:rPr>
              <a:t>R</a:t>
            </a:r>
            <a:r>
              <a:rPr sz="1150" b="0" i="0" baseline="30000" dirty="0">
                <a:solidFill>
                  <a:srgbClr val="1F385C"/>
                </a:solidFill>
              </a:rPr>
              <a:t>+</a:t>
            </a:r>
            <a:r>
              <a:rPr sz="1150" b="0" i="0" dirty="0">
                <a:solidFill>
                  <a:srgbClr val="1F385C"/>
                </a:solidFill>
              </a:rPr>
              <a:t> such that ‖</a:t>
            </a:r>
            <a:r>
              <a:rPr sz="1150" b="0" i="1" dirty="0">
                <a:solidFill>
                  <a:srgbClr val="1F385C"/>
                </a:solidFill>
              </a:rPr>
              <a:t>x</a:t>
            </a:r>
            <a:r>
              <a:rPr sz="1150" b="0" i="1" baseline="-25000" dirty="0">
                <a:solidFill>
                  <a:srgbClr val="1F385C"/>
                </a:solidFill>
              </a:rPr>
              <a:t>v</a:t>
            </a:r>
            <a:r>
              <a:rPr sz="1150" b="0" i="0" dirty="0">
                <a:solidFill>
                  <a:srgbClr val="1F385C"/>
                </a:solidFill>
              </a:rPr>
              <a:t> − </a:t>
            </a:r>
            <a:r>
              <a:rPr sz="1150" b="0" i="1" dirty="0">
                <a:solidFill>
                  <a:srgbClr val="1F385C"/>
                </a:solidFill>
              </a:rPr>
              <a:t>x</a:t>
            </a:r>
            <a:r>
              <a:rPr sz="1150" b="0" i="1" baseline="-25000" dirty="0">
                <a:solidFill>
                  <a:srgbClr val="1F385C"/>
                </a:solidFill>
              </a:rPr>
              <a:t>v′</a:t>
            </a:r>
            <a:r>
              <a:rPr sz="1150" b="0" i="0" dirty="0">
                <a:solidFill>
                  <a:srgbClr val="1F385C"/>
                </a:solidFill>
              </a:rPr>
              <a:t>‖</a:t>
            </a:r>
            <a:r>
              <a:rPr sz="1150" b="0" i="0" baseline="-25000" dirty="0">
                <a:solidFill>
                  <a:srgbClr val="1F385C"/>
                </a:solidFill>
              </a:rPr>
              <a:t>2</a:t>
            </a:r>
            <a:r>
              <a:rPr sz="1150" b="0" i="0" dirty="0">
                <a:solidFill>
                  <a:srgbClr val="1F385C"/>
                </a:solidFill>
              </a:rPr>
              <a:t> &gt; </a:t>
            </a:r>
            <a:r>
              <a:rPr sz="1150" b="0" i="1" dirty="0">
                <a:solidFill>
                  <a:srgbClr val="1F385C"/>
                </a:solidFill>
              </a:rPr>
              <a:t>C</a:t>
            </a:r>
            <a:r>
              <a:rPr sz="1150" b="0" i="0" dirty="0">
                <a:solidFill>
                  <a:srgbClr val="1F385C"/>
                </a:solidFill>
              </a:rPr>
              <a:t> for all pairs of nodes.</a:t>
            </a:r>
          </a:p>
          <a:p>
            <a:pPr algn="ctr"/>
            <a:r>
              <a:rPr sz="1150" b="0" i="1" dirty="0">
                <a:solidFill>
                  <a:srgbClr val="6B7280"/>
                </a:solidFill>
              </a:rPr>
              <a:t>— every node’s "fingerprint" sits at least C away from every other’s.</a:t>
            </a:r>
          </a:p>
        </p:txBody>
      </p:sp>
      <p:sp>
        <p:nvSpPr>
          <p:cNvPr id="1004" name="TextBox Objective"/>
          <p:cNvSpPr txBox="1"/>
          <p:nvPr/>
        </p:nvSpPr>
        <p:spPr>
          <a:xfrm>
            <a:off x="6320847" y="2600000"/>
            <a:ext cx="5185047" cy="6565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 dirty="0">
                <a:solidFill>
                  <a:srgbClr val="1F385C"/>
                </a:solidFill>
              </a:rPr>
              <a:t>Then</a:t>
            </a:r>
            <a:r>
              <a:rPr sz="1150" b="0" i="0" dirty="0">
                <a:solidFill>
                  <a:srgbClr val="1F385C"/>
                </a:solidFill>
              </a:rPr>
              <a:t>, ∀</a:t>
            </a:r>
            <a:r>
              <a:rPr sz="1150" b="0" i="1" dirty="0">
                <a:solidFill>
                  <a:srgbClr val="1F385C"/>
                </a:solidFill>
              </a:rPr>
              <a:t>ε</a:t>
            </a:r>
            <a:r>
              <a:rPr sz="1150" b="0" i="0" dirty="0">
                <a:solidFill>
                  <a:srgbClr val="1F385C"/>
                </a:solidFill>
              </a:rPr>
              <a:t> &gt; 0, ∃ </a:t>
            </a:r>
            <a:r>
              <a:rPr sz="1150" b="0" i="1" dirty="0">
                <a:solidFill>
                  <a:srgbClr val="1F385C"/>
                </a:solidFill>
              </a:rPr>
              <a:t>Θ</a:t>
            </a:r>
            <a:r>
              <a:rPr sz="1150" b="0" i="0" dirty="0">
                <a:solidFill>
                  <a:srgbClr val="1F385C"/>
                </a:solidFill>
              </a:rPr>
              <a:t>* such that after </a:t>
            </a:r>
            <a:r>
              <a:rPr sz="1150" b="0" i="1" dirty="0">
                <a:solidFill>
                  <a:srgbClr val="1F385C"/>
                </a:solidFill>
              </a:rPr>
              <a:t>K</a:t>
            </a:r>
            <a:r>
              <a:rPr sz="1150" b="0" i="0" dirty="0">
                <a:solidFill>
                  <a:srgbClr val="1F385C"/>
                </a:solidFill>
              </a:rPr>
              <a:t> = 4 iterations:</a:t>
            </a:r>
          </a:p>
          <a:p>
            <a:pPr algn="ctr">
              <a:spcAft>
                <a:spcPts val="400"/>
              </a:spcAft>
            </a:pPr>
            <a:r>
              <a:rPr sz="1150" b="0" i="0" dirty="0">
                <a:solidFill>
                  <a:srgbClr val="1F385C"/>
                </a:solidFill>
              </a:rPr>
              <a:t>|</a:t>
            </a:r>
            <a:r>
              <a:rPr sz="1150" b="0" i="1" dirty="0">
                <a:solidFill>
                  <a:srgbClr val="1F385C"/>
                </a:solidFill>
              </a:rPr>
              <a:t>z</a:t>
            </a:r>
            <a:r>
              <a:rPr sz="1150" b="0" i="1" baseline="-25000" dirty="0">
                <a:solidFill>
                  <a:srgbClr val="1F385C"/>
                </a:solidFill>
              </a:rPr>
              <a:t>v</a:t>
            </a:r>
            <a:r>
              <a:rPr sz="1150" b="0" i="0" dirty="0">
                <a:solidFill>
                  <a:srgbClr val="1F385C"/>
                </a:solidFill>
              </a:rPr>
              <a:t> − </a:t>
            </a:r>
            <a:r>
              <a:rPr sz="1150" b="0" i="1" dirty="0">
                <a:solidFill>
                  <a:srgbClr val="1F385C"/>
                </a:solidFill>
              </a:rPr>
              <a:t>c</a:t>
            </a:r>
            <a:r>
              <a:rPr sz="1150" b="0" i="1" baseline="-25000" dirty="0">
                <a:solidFill>
                  <a:srgbClr val="1F385C"/>
                </a:solidFill>
              </a:rPr>
              <a:t>v</a:t>
            </a:r>
            <a:r>
              <a:rPr sz="1150" b="0" i="0" dirty="0">
                <a:solidFill>
                  <a:srgbClr val="1F385C"/>
                </a:solidFill>
              </a:rPr>
              <a:t>| &lt; </a:t>
            </a:r>
            <a:r>
              <a:rPr sz="1150" b="0" i="1" dirty="0">
                <a:solidFill>
                  <a:srgbClr val="1F385C"/>
                </a:solidFill>
              </a:rPr>
              <a:t>ε</a:t>
            </a:r>
            <a:r>
              <a:rPr sz="1150" b="0" i="0" dirty="0">
                <a:solidFill>
                  <a:srgbClr val="1F385C"/>
                </a:solidFill>
              </a:rPr>
              <a:t>, ∀</a:t>
            </a:r>
            <a:r>
              <a:rPr sz="1150" b="0" i="1" dirty="0">
                <a:solidFill>
                  <a:srgbClr val="1F385C"/>
                </a:solidFill>
              </a:rPr>
              <a:t>v</a:t>
            </a:r>
            <a:r>
              <a:rPr sz="1150" b="0" i="0" dirty="0">
                <a:solidFill>
                  <a:srgbClr val="1F385C"/>
                </a:solidFill>
              </a:rPr>
              <a:t> ∈ </a:t>
            </a:r>
            <a:r>
              <a:rPr sz="1150" b="0" i="1" dirty="0">
                <a:solidFill>
                  <a:srgbClr val="1F385C"/>
                </a:solidFill>
              </a:rPr>
              <a:t>V</a:t>
            </a:r>
          </a:p>
          <a:p>
            <a:pPr algn="ctr"/>
            <a:r>
              <a:rPr sz="1150" b="0" i="1" dirty="0">
                <a:solidFill>
                  <a:srgbClr val="6B7280"/>
                </a:solidFill>
              </a:rPr>
              <a:t>z = learned output, c = true clustering coefficient.</a:t>
            </a:r>
          </a:p>
        </p:txBody>
      </p:sp>
      <p:sp>
        <p:nvSpPr>
          <p:cNvPr id="1005" name="TextBox Bridging"/>
          <p:cNvSpPr txBox="1"/>
          <p:nvPr/>
        </p:nvSpPr>
        <p:spPr>
          <a:xfrm>
            <a:off x="685800" y="3843439"/>
            <a:ext cx="10820095" cy="4809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 dirty="0">
                <a:solidFill>
                  <a:srgbClr val="262B33"/>
                </a:solidFill>
              </a:rPr>
              <a:t>How the fingerprint is built: two nodes only need </a:t>
            </a:r>
            <a:r>
              <a:rPr sz="1400" b="1" i="0" dirty="0">
                <a:solidFill>
                  <a:srgbClr val="1F385C"/>
                </a:solidFill>
              </a:rPr>
              <a:t>different codes</a:t>
            </a:r>
            <a:r>
              <a:rPr sz="1400" b="0" i="0" dirty="0">
                <a:solidFill>
                  <a:srgbClr val="262B33"/>
                </a:solidFill>
              </a:rPr>
              <a:t> if they could ever meet in the </a:t>
            </a:r>
            <a:r>
              <a:rPr sz="1400" b="1" i="0" dirty="0">
                <a:solidFill>
                  <a:srgbClr val="1F385C"/>
                </a:solidFill>
              </a:rPr>
              <a:t>same local neighborhood</a:t>
            </a:r>
            <a:r>
              <a:rPr sz="1400" b="0" i="0" dirty="0">
                <a:solidFill>
                  <a:srgbClr val="262B33"/>
                </a:solidFill>
              </a:rPr>
              <a:t>. Pooling learns the </a:t>
            </a:r>
            <a:r>
              <a:rPr sz="1400" b="1" i="0" dirty="0">
                <a:solidFill>
                  <a:srgbClr val="1F385C"/>
                </a:solidFill>
              </a:rPr>
              <a:t>smallest set of one-hot codes</a:t>
            </a:r>
            <a:r>
              <a:rPr sz="1400" b="0" i="0" dirty="0">
                <a:solidFill>
                  <a:srgbClr val="262B33"/>
                </a:solidFill>
              </a:rPr>
              <a:t> that guarantees this</a:t>
            </a:r>
            <a:r>
              <a:rPr lang="it-IT" sz="1400" b="0" i="0" dirty="0">
                <a:solidFill>
                  <a:srgbClr val="262B33"/>
                </a:solidFill>
              </a:rPr>
              <a:t>, </a:t>
            </a:r>
            <a:r>
              <a:rPr sz="1400" b="0" i="0" dirty="0">
                <a:solidFill>
                  <a:srgbClr val="262B33"/>
                </a:solidFill>
              </a:rPr>
              <a:t>far cheaper than giving every node its own unique label (Lemma 3, next slide).</a:t>
            </a:r>
          </a:p>
        </p:txBody>
      </p:sp>
      <p:sp>
        <p:nvSpPr>
          <p:cNvPr id="1006" name="TextBox Prediction"/>
          <p:cNvSpPr txBox="1"/>
          <p:nvPr/>
        </p:nvSpPr>
        <p:spPr>
          <a:xfrm>
            <a:off x="685800" y="4911254"/>
            <a:ext cx="1082009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Prediction</a:t>
            </a:r>
            <a:r>
              <a:rPr sz="1400" b="0" i="0" dirty="0">
                <a:solidFill>
                  <a:srgbClr val="262B33"/>
                </a:solidFill>
              </a:rPr>
              <a:t>: pool should degrade more gracefully than GCN when features are corrupted (tested empirically; see Results VI).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 dirty="0">
                <a:solidFill>
                  <a:srgbClr val="9AA5B1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06 · THEORETICAL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 dirty="0">
                <a:solidFill>
                  <a:srgbClr val="1F385C"/>
                </a:solidFill>
              </a:rPr>
              <a:t>Proof of Theorem 1 — three lemmas, stacked</a:t>
            </a:r>
          </a:p>
        </p:txBody>
      </p:sp>
      <p:sp>
        <p:nvSpPr>
          <p:cNvPr id="9101" name="pill"/>
          <p:cNvSpPr/>
          <p:nvPr/>
        </p:nvSpPr>
        <p:spPr>
          <a:xfrm>
            <a:off x="685800" y="2456876"/>
            <a:ext cx="3300000" cy="5500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LEMMA 1</a:t>
            </a:r>
          </a:p>
        </p:txBody>
      </p:sp>
      <p:sp>
        <p:nvSpPr>
          <p:cNvPr id="9102" name="TextBox 9101"/>
          <p:cNvSpPr txBox="1"/>
          <p:nvPr/>
        </p:nvSpPr>
        <p:spPr>
          <a:xfrm>
            <a:off x="3985800" y="2456876"/>
            <a:ext cx="450000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 dirty="0">
                <a:solidFill>
                  <a:srgbClr val="262B33"/>
                </a:solidFill>
              </a:rPr>
              <a:t>→</a:t>
            </a:r>
          </a:p>
        </p:txBody>
      </p:sp>
      <p:sp>
        <p:nvSpPr>
          <p:cNvPr id="4" name="pill"/>
          <p:cNvSpPr/>
          <p:nvPr/>
        </p:nvSpPr>
        <p:spPr>
          <a:xfrm>
            <a:off x="4435800" y="2456876"/>
            <a:ext cx="3300000" cy="5500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LEMMA 2</a:t>
            </a:r>
          </a:p>
        </p:txBody>
      </p:sp>
      <p:sp>
        <p:nvSpPr>
          <p:cNvPr id="9103" name="TextBox 9102"/>
          <p:cNvSpPr txBox="1"/>
          <p:nvPr/>
        </p:nvSpPr>
        <p:spPr>
          <a:xfrm>
            <a:off x="7735800" y="2456876"/>
            <a:ext cx="450000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 dirty="0">
                <a:solidFill>
                  <a:srgbClr val="262B33"/>
                </a:solidFill>
              </a:rPr>
              <a:t>→</a:t>
            </a:r>
          </a:p>
        </p:txBody>
      </p:sp>
      <p:sp>
        <p:nvSpPr>
          <p:cNvPr id="5" name="pill"/>
          <p:cNvSpPr/>
          <p:nvPr/>
        </p:nvSpPr>
        <p:spPr>
          <a:xfrm>
            <a:off x="8185800" y="2456876"/>
            <a:ext cx="3300000" cy="5500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LEMMA 3</a:t>
            </a:r>
          </a:p>
        </p:txBody>
      </p:sp>
      <p:sp>
        <p:nvSpPr>
          <p:cNvPr id="9104" name="TextBox 9103"/>
          <p:cNvSpPr txBox="1"/>
          <p:nvPr/>
        </p:nvSpPr>
        <p:spPr>
          <a:xfrm>
            <a:off x="685800" y="3186876"/>
            <a:ext cx="3300000" cy="10054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 i="0" dirty="0">
                <a:solidFill>
                  <a:srgbClr val="262B33"/>
                </a:solidFill>
              </a:rPr>
              <a:t>A continuous function can be built to fire only near a chosen set of points.</a:t>
            </a:r>
          </a:p>
          <a:p>
            <a:pPr algn="ctr">
              <a:spcAft>
                <a:spcPts val="100"/>
              </a:spcAft>
            </a:pPr>
            <a:r>
              <a:rPr sz="1150" i="0" dirty="0">
                <a:solidFill>
                  <a:srgbClr val="1F385C"/>
                </a:solidFill>
              </a:rPr>
              <a:t>{ </a:t>
            </a:r>
            <a:r>
              <a:rPr sz="1150" i="1" dirty="0">
                <a:solidFill>
                  <a:srgbClr val="1F385C"/>
                </a:solidFill>
              </a:rPr>
              <a:t>g</a:t>
            </a:r>
            <a:r>
              <a:rPr sz="1150" i="0" dirty="0">
                <a:solidFill>
                  <a:srgbClr val="1F385C"/>
                </a:solidFill>
              </a:rPr>
              <a:t>(</a:t>
            </a:r>
            <a:r>
              <a:rPr sz="1150" i="1" dirty="0">
                <a:solidFill>
                  <a:srgbClr val="1F385C"/>
                </a:solidFill>
              </a:rPr>
              <a:t>x</a:t>
            </a:r>
            <a:r>
              <a:rPr sz="1150" i="0" dirty="0">
                <a:solidFill>
                  <a:srgbClr val="1F385C"/>
                </a:solidFill>
              </a:rPr>
              <a:t>) &gt; </a:t>
            </a:r>
            <a:r>
              <a:rPr sz="1150" i="1" dirty="0">
                <a:solidFill>
                  <a:srgbClr val="1F385C"/>
                </a:solidFill>
              </a:rPr>
              <a:t>ε</a:t>
            </a:r>
            <a:r>
              <a:rPr sz="1150" i="0" dirty="0">
                <a:solidFill>
                  <a:srgbClr val="1F385C"/>
                </a:solidFill>
              </a:rPr>
              <a:t>, if ‖</a:t>
            </a:r>
            <a:r>
              <a:rPr sz="1150" i="1" dirty="0">
                <a:solidFill>
                  <a:srgbClr val="1F385C"/>
                </a:solidFill>
              </a:rPr>
              <a:t>x</a:t>
            </a:r>
            <a:r>
              <a:rPr sz="1150" i="0" dirty="0">
                <a:solidFill>
                  <a:srgbClr val="1F385C"/>
                </a:solidFill>
              </a:rPr>
              <a:t> − </a:t>
            </a:r>
            <a:r>
              <a:rPr sz="1150" i="1" dirty="0">
                <a:solidFill>
                  <a:srgbClr val="1F385C"/>
                </a:solidFill>
              </a:rPr>
              <a:t>x</a:t>
            </a:r>
            <a:r>
              <a:rPr sz="1150" i="1" baseline="-25000" dirty="0">
                <a:solidFill>
                  <a:srgbClr val="1F385C"/>
                </a:solidFill>
              </a:rPr>
              <a:t>v</a:t>
            </a:r>
            <a:r>
              <a:rPr sz="1150" i="0" dirty="0">
                <a:solidFill>
                  <a:srgbClr val="1F385C"/>
                </a:solidFill>
              </a:rPr>
              <a:t>‖</a:t>
            </a:r>
            <a:r>
              <a:rPr sz="1150" i="0" baseline="-25000" dirty="0">
                <a:solidFill>
                  <a:srgbClr val="1F385C"/>
                </a:solidFill>
              </a:rPr>
              <a:t>2</a:t>
            </a:r>
            <a:r>
              <a:rPr sz="1150" i="0" dirty="0">
                <a:solidFill>
                  <a:srgbClr val="1F385C"/>
                </a:solidFill>
              </a:rPr>
              <a:t> = 0 for some </a:t>
            </a:r>
            <a:r>
              <a:rPr sz="1150" i="1" dirty="0">
                <a:solidFill>
                  <a:srgbClr val="1F385C"/>
                </a:solidFill>
              </a:rPr>
              <a:t>v</a:t>
            </a:r>
            <a:r>
              <a:rPr sz="1150" i="0" dirty="0">
                <a:solidFill>
                  <a:srgbClr val="1F385C"/>
                </a:solidFill>
              </a:rPr>
              <a:t> ∈ </a:t>
            </a:r>
            <a:r>
              <a:rPr sz="1150" i="1" dirty="0">
                <a:solidFill>
                  <a:srgbClr val="1F385C"/>
                </a:solidFill>
              </a:rPr>
              <a:t>D</a:t>
            </a:r>
          </a:p>
          <a:p>
            <a:pPr algn="ctr">
              <a:spcAft>
                <a:spcPts val="300"/>
              </a:spcAft>
            </a:pPr>
            <a:r>
              <a:rPr sz="1150" i="0" dirty="0">
                <a:solidFill>
                  <a:srgbClr val="1F385C"/>
                </a:solidFill>
              </a:rPr>
              <a:t>{ </a:t>
            </a:r>
            <a:r>
              <a:rPr sz="1150" i="1" dirty="0">
                <a:solidFill>
                  <a:srgbClr val="1F385C"/>
                </a:solidFill>
              </a:rPr>
              <a:t>g</a:t>
            </a:r>
            <a:r>
              <a:rPr sz="1150" i="0" dirty="0">
                <a:solidFill>
                  <a:srgbClr val="1F385C"/>
                </a:solidFill>
              </a:rPr>
              <a:t>(</a:t>
            </a:r>
            <a:r>
              <a:rPr sz="1150" i="1" dirty="0">
                <a:solidFill>
                  <a:srgbClr val="1F385C"/>
                </a:solidFill>
              </a:rPr>
              <a:t>x</a:t>
            </a:r>
            <a:r>
              <a:rPr sz="1150" i="0" dirty="0">
                <a:solidFill>
                  <a:srgbClr val="1F385C"/>
                </a:solidFill>
              </a:rPr>
              <a:t>) ≤ −</a:t>
            </a:r>
            <a:r>
              <a:rPr sz="1150" i="1" dirty="0">
                <a:solidFill>
                  <a:srgbClr val="1F385C"/>
                </a:solidFill>
              </a:rPr>
              <a:t>ε</a:t>
            </a:r>
            <a:r>
              <a:rPr sz="1150" i="0" dirty="0">
                <a:solidFill>
                  <a:srgbClr val="1F385C"/>
                </a:solidFill>
              </a:rPr>
              <a:t>, if ‖</a:t>
            </a:r>
            <a:r>
              <a:rPr sz="1150" i="1" dirty="0">
                <a:solidFill>
                  <a:srgbClr val="1F385C"/>
                </a:solidFill>
              </a:rPr>
              <a:t>x</a:t>
            </a:r>
            <a:r>
              <a:rPr sz="1150" i="0" dirty="0">
                <a:solidFill>
                  <a:srgbClr val="1F385C"/>
                </a:solidFill>
              </a:rPr>
              <a:t> − </a:t>
            </a:r>
            <a:r>
              <a:rPr sz="1150" i="1" dirty="0">
                <a:solidFill>
                  <a:srgbClr val="1F385C"/>
                </a:solidFill>
              </a:rPr>
              <a:t>x</a:t>
            </a:r>
            <a:r>
              <a:rPr sz="1150" i="1" baseline="-25000" dirty="0">
                <a:solidFill>
                  <a:srgbClr val="1F385C"/>
                </a:solidFill>
              </a:rPr>
              <a:t>v</a:t>
            </a:r>
            <a:r>
              <a:rPr sz="1150" i="0" dirty="0">
                <a:solidFill>
                  <a:srgbClr val="1F385C"/>
                </a:solidFill>
              </a:rPr>
              <a:t>‖</a:t>
            </a:r>
            <a:r>
              <a:rPr sz="1150" i="0" baseline="-25000" dirty="0">
                <a:solidFill>
                  <a:srgbClr val="1F385C"/>
                </a:solidFill>
              </a:rPr>
              <a:t>2</a:t>
            </a:r>
            <a:r>
              <a:rPr sz="1150" i="0" dirty="0">
                <a:solidFill>
                  <a:srgbClr val="1F385C"/>
                </a:solidFill>
              </a:rPr>
              <a:t> &gt; </a:t>
            </a:r>
            <a:r>
              <a:rPr sz="1150" i="1" dirty="0">
                <a:solidFill>
                  <a:srgbClr val="1F385C"/>
                </a:solidFill>
              </a:rPr>
              <a:t>C</a:t>
            </a:r>
            <a:r>
              <a:rPr sz="1150" i="0" dirty="0">
                <a:solidFill>
                  <a:srgbClr val="1F385C"/>
                </a:solidFill>
              </a:rPr>
              <a:t>, ∀</a:t>
            </a:r>
            <a:r>
              <a:rPr sz="1150" i="1" dirty="0">
                <a:solidFill>
                  <a:srgbClr val="1F385C"/>
                </a:solidFill>
              </a:rPr>
              <a:t>v</a:t>
            </a:r>
            <a:r>
              <a:rPr sz="1150" i="0" dirty="0">
                <a:solidFill>
                  <a:srgbClr val="1F385C"/>
                </a:solidFill>
              </a:rPr>
              <a:t> ∈ </a:t>
            </a:r>
            <a:r>
              <a:rPr sz="1150" i="1" dirty="0">
                <a:solidFill>
                  <a:srgbClr val="1F385C"/>
                </a:solidFill>
              </a:rPr>
              <a:t>D</a:t>
            </a:r>
            <a:r>
              <a:rPr sz="1150" i="0" dirty="0">
                <a:solidFill>
                  <a:srgbClr val="1F385C"/>
                </a:solidFill>
              </a:rPr>
              <a:t>,</a:t>
            </a:r>
          </a:p>
          <a:p>
            <a:pPr algn="ctr"/>
            <a:r>
              <a:rPr sz="1150" b="0" i="1" dirty="0">
                <a:solidFill>
                  <a:srgbClr val="6B7280"/>
                </a:solidFill>
              </a:rPr>
              <a:t>“A proximity detector for a specific group of nodes.”</a:t>
            </a:r>
          </a:p>
        </p:txBody>
      </p:sp>
      <p:sp>
        <p:nvSpPr>
          <p:cNvPr id="9105" name="TextBox 9104"/>
          <p:cNvSpPr txBox="1"/>
          <p:nvPr/>
        </p:nvSpPr>
        <p:spPr>
          <a:xfrm>
            <a:off x="4435800" y="3186876"/>
            <a:ext cx="3300000" cy="6001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 i="0" dirty="0">
                <a:solidFill>
                  <a:srgbClr val="262B33"/>
                </a:solidFill>
              </a:rPr>
              <a:t>Any such detector is approximable by a 1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hidden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layer MLP (Hornik's theorem).</a:t>
            </a:r>
          </a:p>
          <a:p>
            <a:pPr algn="ctr"/>
            <a:r>
              <a:rPr sz="1150" b="0" i="1" dirty="0">
                <a:solidFill>
                  <a:srgbClr val="6B7280"/>
                </a:solidFill>
              </a:rPr>
              <a:t>“A neural net can learn that detector.”</a:t>
            </a:r>
          </a:p>
        </p:txBody>
      </p:sp>
      <p:sp>
        <p:nvSpPr>
          <p:cNvPr id="9106" name="TextBox 9105"/>
          <p:cNvSpPr txBox="1"/>
          <p:nvPr/>
        </p:nvSpPr>
        <p:spPr>
          <a:xfrm>
            <a:off x="8185800" y="3186876"/>
            <a:ext cx="3300000" cy="969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 i="0" dirty="0">
                <a:solidFill>
                  <a:srgbClr val="262B33"/>
                </a:solidFill>
              </a:rPr>
              <a:t>≥2-hidden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layer pooling maps every node to a unique one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hot ID over its 2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hop neighborhood, given distinct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enough features.</a:t>
            </a:r>
          </a:p>
          <a:p>
            <a:pPr algn="ctr"/>
            <a:r>
              <a:rPr sz="1150" b="0" i="1" dirty="0">
                <a:solidFill>
                  <a:srgbClr val="6B7280"/>
                </a:solidFill>
              </a:rPr>
              <a:t>“Stack enough detectors → every node gets its own ID badge”</a:t>
            </a:r>
          </a:p>
        </p:txBody>
      </p:sp>
      <p:sp>
        <p:nvSpPr>
          <p:cNvPr id="9107" name="TextBox 9106"/>
          <p:cNvSpPr txBox="1"/>
          <p:nvPr/>
        </p:nvSpPr>
        <p:spPr>
          <a:xfrm>
            <a:off x="685800" y="5061876"/>
            <a:ext cx="10820095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dirty="0">
                <a:solidFill>
                  <a:srgbClr val="1F385C"/>
                </a:solidFill>
              </a:rPr>
              <a:t>→ Theorem 1 stacks four such layers to turn these ID badges into an exact clustering</a:t>
            </a:r>
            <a:r>
              <a:rPr lang="it-IT" sz="1350" b="1" i="0" dirty="0">
                <a:solidFill>
                  <a:srgbClr val="1F385C"/>
                </a:solidFill>
              </a:rPr>
              <a:t> </a:t>
            </a:r>
            <a:r>
              <a:rPr sz="1350" b="1" i="0" dirty="0">
                <a:solidFill>
                  <a:srgbClr val="1F385C"/>
                </a:solidFill>
              </a:rPr>
              <a:t>coefficient computation (next slide).</a:t>
            </a:r>
          </a:p>
        </p:txBody>
      </p:sp>
      <p:sp>
        <p:nvSpPr>
          <p:cNvPr id="9108" name="TextBox 9107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262B33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06 · THEORETICAL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 dirty="0">
                <a:solidFill>
                  <a:srgbClr val="1F385C"/>
                </a:solidFill>
              </a:rPr>
              <a:t>Proof of Theorem 1 — the K=4 construction</a:t>
            </a:r>
          </a:p>
        </p:txBody>
      </p:sp>
      <p:sp>
        <p:nvSpPr>
          <p:cNvPr id="9101" name="pill"/>
          <p:cNvSpPr/>
          <p:nvPr/>
        </p:nvSpPr>
        <p:spPr>
          <a:xfrm>
            <a:off x="685800" y="1873815"/>
            <a:ext cx="2400000" cy="5500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0" dirty="0">
                <a:solidFill>
                  <a:srgbClr val="FFFFFF"/>
                </a:solidFill>
              </a:rPr>
              <a:t>K=1 — unique ID</a:t>
            </a:r>
          </a:p>
        </p:txBody>
      </p:sp>
      <p:sp>
        <p:nvSpPr>
          <p:cNvPr id="9102" name="TextBox 9101"/>
          <p:cNvSpPr txBox="1"/>
          <p:nvPr/>
        </p:nvSpPr>
        <p:spPr>
          <a:xfrm>
            <a:off x="3085800" y="1873815"/>
            <a:ext cx="400000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dirty="0">
                <a:solidFill>
                  <a:srgbClr val="262B33"/>
                </a:solidFill>
              </a:rPr>
              <a:t>→</a:t>
            </a:r>
          </a:p>
        </p:txBody>
      </p:sp>
      <p:sp>
        <p:nvSpPr>
          <p:cNvPr id="4" name="pill"/>
          <p:cNvSpPr/>
          <p:nvPr/>
        </p:nvSpPr>
        <p:spPr>
          <a:xfrm>
            <a:off x="3485800" y="1873815"/>
            <a:ext cx="2400000" cy="5500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0" dirty="0">
                <a:solidFill>
                  <a:srgbClr val="FFFFFF"/>
                </a:solidFill>
              </a:rPr>
              <a:t>K=2 — + own links</a:t>
            </a:r>
          </a:p>
        </p:txBody>
      </p:sp>
      <p:sp>
        <p:nvSpPr>
          <p:cNvPr id="9103" name="TextBox 9102"/>
          <p:cNvSpPr txBox="1"/>
          <p:nvPr/>
        </p:nvSpPr>
        <p:spPr>
          <a:xfrm>
            <a:off x="5885800" y="1873815"/>
            <a:ext cx="400000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dirty="0">
                <a:solidFill>
                  <a:srgbClr val="262B33"/>
                </a:solidFill>
              </a:rPr>
              <a:t>→</a:t>
            </a:r>
          </a:p>
        </p:txBody>
      </p:sp>
      <p:sp>
        <p:nvSpPr>
          <p:cNvPr id="5" name="pill"/>
          <p:cNvSpPr/>
          <p:nvPr/>
        </p:nvSpPr>
        <p:spPr>
          <a:xfrm>
            <a:off x="6285800" y="1873815"/>
            <a:ext cx="2400000" cy="5500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0" dirty="0">
                <a:solidFill>
                  <a:srgbClr val="FFFFFF"/>
                </a:solidFill>
              </a:rPr>
              <a:t>K=3 — + neighbors'</a:t>
            </a:r>
          </a:p>
        </p:txBody>
      </p:sp>
      <p:sp>
        <p:nvSpPr>
          <p:cNvPr id="9104" name="TextBox 9103"/>
          <p:cNvSpPr txBox="1"/>
          <p:nvPr/>
        </p:nvSpPr>
        <p:spPr>
          <a:xfrm>
            <a:off x="8685800" y="1873815"/>
            <a:ext cx="400000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dirty="0">
                <a:solidFill>
                  <a:srgbClr val="262B33"/>
                </a:solidFill>
              </a:rPr>
              <a:t>→</a:t>
            </a:r>
          </a:p>
        </p:txBody>
      </p:sp>
      <p:sp>
        <p:nvSpPr>
          <p:cNvPr id="6" name="pill"/>
          <p:cNvSpPr/>
          <p:nvPr/>
        </p:nvSpPr>
        <p:spPr>
          <a:xfrm>
            <a:off x="9085800" y="1873815"/>
            <a:ext cx="2400000" cy="5500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0" dirty="0">
                <a:solidFill>
                  <a:srgbClr val="FFFFFF"/>
                </a:solidFill>
              </a:rPr>
              <a:t>K=4 — finish (MLP)</a:t>
            </a:r>
          </a:p>
        </p:txBody>
      </p:sp>
      <p:sp>
        <p:nvSpPr>
          <p:cNvPr id="7" name="card"/>
          <p:cNvSpPr/>
          <p:nvPr/>
        </p:nvSpPr>
        <p:spPr>
          <a:xfrm>
            <a:off x="685800" y="2623815"/>
            <a:ext cx="10820095" cy="1750000"/>
          </a:xfrm>
          <a:prstGeom prst="roundRect">
            <a:avLst>
              <a:gd name="adj" fmla="val 3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</p:spPr>
        <p:txBody>
          <a:bodyPr lIns="182880" tIns="91440" rIns="182880" bIns="91440" anchor="ctr"/>
          <a:lstStyle/>
          <a:p>
            <a:pPr algn="ctr">
              <a:spcAft>
                <a:spcPts val="600"/>
              </a:spcAft>
            </a:pPr>
            <a:r>
              <a:rPr sz="2400" b="0" i="1" dirty="0">
                <a:solidFill>
                  <a:srgbClr val="262B33"/>
                </a:solidFill>
              </a:rPr>
              <a:t>c</a:t>
            </a:r>
            <a:r>
              <a:rPr sz="2400" b="0" i="1" baseline="-25000" dirty="0">
                <a:solidFill>
                  <a:srgbClr val="262B33"/>
                </a:solidFill>
              </a:rPr>
              <a:t>v</a:t>
            </a:r>
            <a:r>
              <a:rPr sz="2400" b="0" i="0" dirty="0">
                <a:solidFill>
                  <a:srgbClr val="262B33"/>
                </a:solidFill>
              </a:rPr>
              <a:t> = 2(</a:t>
            </a:r>
            <a:r>
              <a:rPr sz="2400" b="0" i="1" dirty="0">
                <a:solidFill>
                  <a:srgbClr val="262B33"/>
                </a:solidFill>
              </a:rPr>
              <a:t>b</a:t>
            </a:r>
            <a:r>
              <a:rPr sz="2400" b="0" i="1" baseline="30000" dirty="0">
                <a:solidFill>
                  <a:srgbClr val="262B33"/>
                </a:solidFill>
              </a:rPr>
              <a:t>T</a:t>
            </a:r>
            <a:r>
              <a:rPr sz="2400" b="0" i="1" dirty="0">
                <a:solidFill>
                  <a:srgbClr val="262B33"/>
                </a:solidFill>
              </a:rPr>
              <a:t>c</a:t>
            </a:r>
            <a:r>
              <a:rPr sz="2400" b="0" i="0" dirty="0">
                <a:solidFill>
                  <a:srgbClr val="262B33"/>
                </a:solidFill>
              </a:rPr>
              <a:t> − d</a:t>
            </a:r>
            <a:r>
              <a:rPr sz="2400" b="0" i="1" baseline="-25000" dirty="0">
                <a:solidFill>
                  <a:srgbClr val="262B33"/>
                </a:solidFill>
              </a:rPr>
              <a:t>v</a:t>
            </a:r>
            <a:r>
              <a:rPr sz="2400" b="0" i="0" dirty="0">
                <a:solidFill>
                  <a:srgbClr val="262B33"/>
                </a:solidFill>
              </a:rPr>
              <a:t>) / (d</a:t>
            </a:r>
            <a:r>
              <a:rPr sz="2400" b="0" i="1" baseline="-25000" dirty="0">
                <a:solidFill>
                  <a:srgbClr val="262B33"/>
                </a:solidFill>
              </a:rPr>
              <a:t>v</a:t>
            </a:r>
            <a:r>
              <a:rPr sz="2400" b="0" i="0" dirty="0">
                <a:solidFill>
                  <a:srgbClr val="262B33"/>
                </a:solidFill>
              </a:rPr>
              <a:t>(d</a:t>
            </a:r>
            <a:r>
              <a:rPr sz="2400" b="0" i="1" baseline="-25000" dirty="0">
                <a:solidFill>
                  <a:srgbClr val="262B33"/>
                </a:solidFill>
              </a:rPr>
              <a:t>v</a:t>
            </a:r>
            <a:r>
              <a:rPr sz="2400" b="0" i="0" dirty="0">
                <a:solidFill>
                  <a:srgbClr val="262B33"/>
                </a:solidFill>
              </a:rPr>
              <a:t>−1))</a:t>
            </a:r>
          </a:p>
          <a:p>
            <a:pPr algn="ctr">
              <a:spcAft>
                <a:spcPts val="500"/>
              </a:spcAft>
            </a:pPr>
            <a:r>
              <a:rPr sz="1200" b="0" i="1" dirty="0">
                <a:solidFill>
                  <a:srgbClr val="6B7280"/>
                </a:solidFill>
              </a:rPr>
              <a:t>a</a:t>
            </a:r>
            <a:r>
              <a:rPr sz="1200" b="0" i="0" dirty="0">
                <a:solidFill>
                  <a:srgbClr val="6B7280"/>
                </a:solidFill>
              </a:rPr>
              <a:t> = unique ID    </a:t>
            </a:r>
            <a:r>
              <a:rPr sz="1200" b="0" i="1" dirty="0">
                <a:solidFill>
                  <a:srgbClr val="6B7280"/>
                </a:solidFill>
              </a:rPr>
              <a:t>b</a:t>
            </a:r>
            <a:r>
              <a:rPr sz="1200" b="0" i="0" dirty="0">
                <a:solidFill>
                  <a:srgbClr val="6B7280"/>
                </a:solidFill>
              </a:rPr>
              <a:t> = v's own connections    </a:t>
            </a:r>
            <a:r>
              <a:rPr sz="1200" b="0" i="1" dirty="0">
                <a:solidFill>
                  <a:srgbClr val="6B7280"/>
                </a:solidFill>
              </a:rPr>
              <a:t>c</a:t>
            </a:r>
            <a:r>
              <a:rPr sz="1200" b="0" i="0" dirty="0">
                <a:solidFill>
                  <a:srgbClr val="6B7280"/>
                </a:solidFill>
              </a:rPr>
              <a:t> = sum of neighbors' connections    </a:t>
            </a:r>
            <a:r>
              <a:rPr sz="1200" b="0" i="1" dirty="0">
                <a:solidFill>
                  <a:srgbClr val="6B7280"/>
                </a:solidFill>
              </a:rPr>
              <a:t>d</a:t>
            </a:r>
            <a:r>
              <a:rPr sz="1200" b="0" i="1" baseline="-25000" dirty="0">
                <a:solidFill>
                  <a:srgbClr val="6B7280"/>
                </a:solidFill>
              </a:rPr>
              <a:t>v</a:t>
            </a:r>
            <a:r>
              <a:rPr sz="1200" b="0" i="0" dirty="0">
                <a:solidFill>
                  <a:srgbClr val="6B7280"/>
                </a:solidFill>
              </a:rPr>
              <a:t> = degree</a:t>
            </a:r>
          </a:p>
          <a:p>
            <a:pPr algn="ctr"/>
            <a:r>
              <a:rPr sz="1250" b="1" i="1" dirty="0">
                <a:solidFill>
                  <a:srgbClr val="1F385C"/>
                </a:solidFill>
              </a:rPr>
              <a:t>= (edges among v's neighbors) / (all possible such edges) — exactly the textbook clustering coefficient.</a:t>
            </a:r>
          </a:p>
        </p:txBody>
      </p:sp>
      <p:sp>
        <p:nvSpPr>
          <p:cNvPr id="9105" name="TextBox 9104"/>
          <p:cNvSpPr txBox="1"/>
          <p:nvPr/>
        </p:nvSpPr>
        <p:spPr>
          <a:xfrm>
            <a:off x="685952" y="4746120"/>
            <a:ext cx="10820095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dirty="0">
                <a:solidFill>
                  <a:srgbClr val="1F385C"/>
                </a:solidFill>
              </a:rPr>
              <a:t>Corollary 2: </a:t>
            </a:r>
            <a:r>
              <a:rPr sz="1250" b="0" i="0" dirty="0">
                <a:solidFill>
                  <a:srgbClr val="262B33"/>
                </a:solidFill>
              </a:rPr>
              <a:t>this holds almost surely for noisy/continuous features — why GraphSAGE-pool keeps working when features are replaced with noise (see Results VI).</a:t>
            </a:r>
          </a:p>
        </p:txBody>
      </p:sp>
      <p:sp>
        <p:nvSpPr>
          <p:cNvPr id="9106" name="TextBox 910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262B33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07 · </a:t>
            </a:r>
            <a:r>
              <a:rPr lang="it-IT" sz="1300" b="1" i="0" dirty="0">
                <a:solidFill>
                  <a:srgbClr val="1BAF7A"/>
                </a:solidFill>
              </a:rPr>
              <a:t>MY</a:t>
            </a:r>
            <a:r>
              <a:rPr sz="1300" b="1" i="0" dirty="0">
                <a:solidFill>
                  <a:srgbClr val="1BAF7A"/>
                </a:solidFill>
              </a:rPr>
              <a:t> SCALED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What was cut, and what wasn't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9852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Budget</a:t>
            </a:r>
            <a:r>
              <a:rPr sz="1400" b="0" i="0" dirty="0">
                <a:solidFill>
                  <a:srgbClr val="262B33"/>
                </a:solidFill>
              </a:rPr>
              <a:t>: single local consumer GPU (RTX 2060 SUPER)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Not reduced</a:t>
            </a:r>
            <a:r>
              <a:rPr sz="1400" b="0" i="0" dirty="0">
                <a:solidFill>
                  <a:srgbClr val="262B33"/>
                </a:solidFill>
              </a:rPr>
              <a:t>: the algorithm itself (</a:t>
            </a:r>
            <a:r>
              <a:rPr sz="1400" b="0" i="1" dirty="0">
                <a:solidFill>
                  <a:srgbClr val="262B33"/>
                </a:solidFill>
              </a:rPr>
              <a:t>K</a:t>
            </a:r>
            <a:r>
              <a:rPr sz="1400" b="0" i="0" dirty="0">
                <a:solidFill>
                  <a:srgbClr val="262B33"/>
                </a:solidFill>
              </a:rPr>
              <a:t>=2, </a:t>
            </a:r>
            <a:r>
              <a:rPr sz="1400" b="0" i="1" dirty="0">
                <a:solidFill>
                  <a:srgbClr val="262B33"/>
                </a:solidFill>
              </a:rPr>
              <a:t>S</a:t>
            </a:r>
            <a:r>
              <a:rPr sz="1400" b="0" i="0" baseline="-25000" dirty="0">
                <a:solidFill>
                  <a:srgbClr val="262B33"/>
                </a:solidFill>
              </a:rPr>
              <a:t>1</a:t>
            </a:r>
            <a:r>
              <a:rPr sz="1400" b="0" i="0" dirty="0">
                <a:solidFill>
                  <a:srgbClr val="262B33"/>
                </a:solidFill>
              </a:rPr>
              <a:t>=25, </a:t>
            </a:r>
            <a:r>
              <a:rPr sz="1400" b="0" i="1" dirty="0">
                <a:solidFill>
                  <a:srgbClr val="262B33"/>
                </a:solidFill>
              </a:rPr>
              <a:t>S</a:t>
            </a:r>
            <a:r>
              <a:rPr sz="1400" b="0" i="0" baseline="-25000" dirty="0">
                <a:solidFill>
                  <a:srgbClr val="262B33"/>
                </a:solidFill>
              </a:rPr>
              <a:t>2</a:t>
            </a:r>
            <a:r>
              <a:rPr sz="1400" b="0" i="0" dirty="0">
                <a:solidFill>
                  <a:srgbClr val="262B33"/>
                </a:solidFill>
              </a:rPr>
              <a:t>=10, all 4 aggregators, both losses)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Reduced</a:t>
            </a:r>
            <a:r>
              <a:rPr sz="1400" b="0" i="0" dirty="0">
                <a:solidFill>
                  <a:srgbClr val="262B33"/>
                </a:solidFill>
              </a:rPr>
              <a:t>: purely the </a:t>
            </a:r>
            <a:r>
              <a:rPr sz="1400" b="0" i="1" dirty="0">
                <a:solidFill>
                  <a:srgbClr val="262B33"/>
                </a:solidFill>
              </a:rPr>
              <a:t>experimental budget</a:t>
            </a:r>
            <a:r>
              <a:rPr sz="1400" b="0" i="0" dirty="0">
                <a:solidFill>
                  <a:srgbClr val="262B33"/>
                </a:solidFill>
              </a:rPr>
              <a:t> (hyperparameter grid, seed count, epoch/step counts)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3429000"/>
            <a:ext cx="1737360" cy="6858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</a:rPr>
              <a:t>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5560" y="3429000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9AA5B1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32760" y="3429000"/>
            <a:ext cx="1737360" cy="685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</a:rPr>
              <a:t>Sweep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0120" y="3429000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9AA5B1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27320" y="3429000"/>
            <a:ext cx="1737360" cy="6858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</a:rPr>
              <a:t>Multi-seed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4680" y="3429000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9AA5B1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21880" y="3429000"/>
            <a:ext cx="1737360" cy="685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</a:rPr>
              <a:t>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59240" y="3429000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9AA5B1"/>
                </a:solidFill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16440" y="3429000"/>
            <a:ext cx="1737360" cy="6858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</a:rPr>
              <a:t>Noise-robustness</a:t>
            </a:r>
          </a:p>
        </p:txBody>
      </p:sp>
      <p:sp>
        <p:nvSpPr>
          <p:cNvPr id="16" name="TableDivider"/>
          <p:cNvSpPr/>
          <p:nvPr/>
        </p:nvSpPr>
        <p:spPr>
          <a:xfrm>
            <a:off x="685800" y="4334859"/>
            <a:ext cx="10820095" cy="0"/>
          </a:xfrm>
          <a:prstGeom prst="line">
            <a:avLst/>
          </a:prstGeom>
          <a:ln w="9525">
            <a:solidFill>
              <a:srgbClr val="E2E7E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TableCell"/>
          <p:cNvSpPr txBox="1"/>
          <p:nvPr/>
        </p:nvSpPr>
        <p:spPr>
          <a:xfrm>
            <a:off x="838200" y="4454859"/>
            <a:ext cx="173736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 i="0" dirty="0">
                <a:solidFill>
                  <a:srgbClr val="262B33"/>
                </a:solidFill>
              </a:rPr>
              <a:t>Random + Raw features</a:t>
            </a:r>
          </a:p>
          <a:p>
            <a:pPr algn="l">
              <a:lnSpc>
                <a:spcPct val="120000"/>
              </a:lnSpc>
            </a:pPr>
            <a:r>
              <a:rPr sz="1200" b="0" i="0" dirty="0">
                <a:solidFill>
                  <a:srgbClr val="262B33"/>
                </a:solidFill>
              </a:rPr>
              <a:t>(SGDClassifier)</a:t>
            </a:r>
          </a:p>
        </p:txBody>
      </p:sp>
      <p:sp>
        <p:nvSpPr>
          <p:cNvPr id="18" name="TableCell"/>
          <p:cNvSpPr txBox="1"/>
          <p:nvPr/>
        </p:nvSpPr>
        <p:spPr>
          <a:xfrm>
            <a:off x="3032760" y="4454859"/>
            <a:ext cx="173736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 i="0" dirty="0">
                <a:solidFill>
                  <a:srgbClr val="262B33"/>
                </a:solidFill>
              </a:rPr>
              <a:t>2 LR × small only</a:t>
            </a:r>
          </a:p>
          <a:p>
            <a:pPr algn="l">
              <a:lnSpc>
                <a:spcPct val="120000"/>
              </a:lnSpc>
            </a:pPr>
            <a:r>
              <a:rPr sz="1200" b="0" i="0" dirty="0">
                <a:solidFill>
                  <a:srgbClr val="262B33"/>
                </a:solidFill>
              </a:rPr>
              <a:t>sup 10 ep · unsup 3k steps</a:t>
            </a:r>
          </a:p>
        </p:txBody>
      </p:sp>
      <p:sp>
        <p:nvSpPr>
          <p:cNvPr id="19" name="TableCell"/>
          <p:cNvSpPr txBox="1"/>
          <p:nvPr/>
        </p:nvSpPr>
        <p:spPr>
          <a:xfrm>
            <a:off x="5227320" y="4454859"/>
            <a:ext cx="173736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 i="0" dirty="0">
                <a:solidFill>
                  <a:srgbClr val="262B33"/>
                </a:solidFill>
              </a:rPr>
              <a:t>seeds 123, 124</a:t>
            </a:r>
          </a:p>
          <a:p>
            <a:pPr algn="l">
              <a:lnSpc>
                <a:spcPct val="120000"/>
              </a:lnSpc>
            </a:pPr>
            <a:r>
              <a:rPr sz="1200" b="0" i="0" dirty="0">
                <a:solidFill>
                  <a:srgbClr val="262B33"/>
                </a:solidFill>
              </a:rPr>
              <a:t>sup 5 ep · unsup 3k steps</a:t>
            </a:r>
          </a:p>
        </p:txBody>
      </p:sp>
      <p:sp>
        <p:nvSpPr>
          <p:cNvPr id="20" name="TableCell"/>
          <p:cNvSpPr txBox="1"/>
          <p:nvPr/>
        </p:nvSpPr>
        <p:spPr>
          <a:xfrm>
            <a:off x="7421880" y="4454859"/>
            <a:ext cx="1737360" cy="6756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 i="0" dirty="0">
                <a:solidFill>
                  <a:srgbClr val="262B33"/>
                </a:solidFill>
              </a:rPr>
              <a:t>K∈{1,2,3} · S∈{5,10,25,50,75}</a:t>
            </a:r>
          </a:p>
          <a:p>
            <a:pPr algn="l">
              <a:lnSpc>
                <a:spcPct val="120000"/>
              </a:lnSpc>
            </a:pPr>
            <a:r>
              <a:rPr lang="it-IT" sz="1200" dirty="0">
                <a:solidFill>
                  <a:srgbClr val="262B33"/>
                </a:solidFill>
              </a:rPr>
              <a:t>G</a:t>
            </a:r>
            <a:r>
              <a:rPr sz="1200" b="0" i="0" dirty="0" err="1">
                <a:solidFill>
                  <a:srgbClr val="262B33"/>
                </a:solidFill>
              </a:rPr>
              <a:t>raph</a:t>
            </a:r>
            <a:r>
              <a:rPr lang="it-IT" sz="1200" b="0" i="0" dirty="0">
                <a:solidFill>
                  <a:srgbClr val="262B33"/>
                </a:solidFill>
              </a:rPr>
              <a:t>SAGE</a:t>
            </a:r>
            <a:r>
              <a:rPr lang="it-IT" sz="1200" dirty="0">
                <a:solidFill>
                  <a:srgbClr val="262B33"/>
                </a:solidFill>
              </a:rPr>
              <a:t>-</a:t>
            </a:r>
            <a:r>
              <a:rPr sz="1200" b="0" i="0" dirty="0">
                <a:solidFill>
                  <a:srgbClr val="262B33"/>
                </a:solidFill>
              </a:rPr>
              <a:t>mean, 5 ep</a:t>
            </a:r>
          </a:p>
        </p:txBody>
      </p:sp>
      <p:sp>
        <p:nvSpPr>
          <p:cNvPr id="21" name="TableCell"/>
          <p:cNvSpPr txBox="1"/>
          <p:nvPr/>
        </p:nvSpPr>
        <p:spPr>
          <a:xfrm>
            <a:off x="9616440" y="4454859"/>
            <a:ext cx="173736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 i="0" dirty="0">
                <a:solidFill>
                  <a:srgbClr val="262B33"/>
                </a:solidFill>
              </a:rPr>
              <a:t>noise∈{0, .5, 1}</a:t>
            </a:r>
          </a:p>
          <a:p>
            <a:pPr algn="l">
              <a:lnSpc>
                <a:spcPct val="120000"/>
              </a:lnSpc>
            </a:pPr>
            <a:r>
              <a:rPr sz="1200" b="0" i="0" dirty="0">
                <a:solidFill>
                  <a:srgbClr val="262B33"/>
                </a:solidFill>
              </a:rPr>
              <a:t>GCN + pool, 5 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08 · RESULTS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Accuracy vs. the paper</a:t>
            </a:r>
          </a:p>
        </p:txBody>
      </p:sp>
      <p:pic>
        <p:nvPicPr>
          <p:cNvPr id="4" name="Picture 3" descr="slide10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73" y="1783080"/>
            <a:ext cx="9510948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952" y="5532120"/>
            <a:ext cx="1082009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 dirty="0">
                <a:solidFill>
                  <a:srgbClr val="1F385C"/>
                </a:solidFill>
              </a:rPr>
              <a:t>Same qualitative ordering</a:t>
            </a:r>
            <a:r>
              <a:rPr sz="1400" b="0" i="0" dirty="0">
                <a:solidFill>
                  <a:srgbClr val="262B33"/>
                </a:solidFill>
              </a:rPr>
              <a:t> as the paper: </a:t>
            </a:r>
            <a:r>
              <a:rPr sz="1400" b="0" i="0" dirty="0" err="1">
                <a:solidFill>
                  <a:srgbClr val="262B33"/>
                </a:solidFill>
              </a:rPr>
              <a:t>GraphSAGE</a:t>
            </a:r>
            <a:r>
              <a:rPr sz="1400" b="0" i="0" dirty="0">
                <a:solidFill>
                  <a:srgbClr val="262B33"/>
                </a:solidFill>
              </a:rPr>
              <a:t> ≫ Raw features &gt; Random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09 · RESULTS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Training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2145"/>
            <a:ext cx="3383280" cy="13868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Seconds/iteration per aggregator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Supervised vs. unsupervised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Confirms the paper's own runtime</a:t>
            </a:r>
            <a:r>
              <a:rPr lang="it-IT" sz="1400" b="0" i="0" dirty="0">
                <a:solidFill>
                  <a:srgbClr val="262B33"/>
                </a:solidFill>
              </a:rPr>
              <a:t> </a:t>
            </a:r>
            <a:r>
              <a:rPr sz="1400" b="0" i="0" dirty="0">
                <a:solidFill>
                  <a:srgbClr val="262B33"/>
                </a:solidFill>
              </a:rPr>
              <a:t>tradeoff intuition across aggregator choices</a:t>
            </a:r>
          </a:p>
        </p:txBody>
      </p:sp>
      <p:pic>
        <p:nvPicPr>
          <p:cNvPr id="5" name="Picture 4" descr="slide11_im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772" y="1783080"/>
            <a:ext cx="668719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10 ·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Loss — supervised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pool</a:t>
            </a:r>
            <a:r>
              <a:rPr sz="1600" b="0" i="0" dirty="0">
                <a:solidFill>
                  <a:srgbClr val="262B33"/>
                </a:solidFill>
              </a:rPr>
              <a:t> (strongest)  vs.  </a:t>
            </a:r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GCN</a:t>
            </a:r>
            <a:r>
              <a:rPr sz="1600" b="0" i="0" dirty="0">
                <a:solidFill>
                  <a:srgbClr val="262B33"/>
                </a:solidFill>
              </a:rPr>
              <a:t> (weakest): supervised loss over training</a:t>
            </a:r>
          </a:p>
        </p:txBody>
      </p:sp>
      <p:pic>
        <p:nvPicPr>
          <p:cNvPr id="5" name="Picture 4" descr="slide12_im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661" y="2377440"/>
            <a:ext cx="4891621" cy="3886200"/>
          </a:xfrm>
          <a:prstGeom prst="rect">
            <a:avLst/>
          </a:prstGeom>
        </p:spPr>
      </p:pic>
      <p:pic>
        <p:nvPicPr>
          <p:cNvPr id="6" name="Picture 5" descr="slide12_img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307" y="2377440"/>
            <a:ext cx="4891621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10 ·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Loss — unsupervised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>
                <a:solidFill>
                  <a:srgbClr val="262B33"/>
                </a:solidFill>
              </a:rPr>
              <a:t>GraphSAGE-</a:t>
            </a:r>
            <a:r>
              <a:rPr sz="1600" b="1" i="0">
                <a:solidFill>
                  <a:srgbClr val="1F385C"/>
                </a:solidFill>
              </a:rPr>
              <a:t>pool</a:t>
            </a:r>
            <a:r>
              <a:rPr sz="1600" b="0" i="0">
                <a:solidFill>
                  <a:srgbClr val="262B33"/>
                </a:solidFill>
              </a:rPr>
              <a:t> (strongest)  vs.  GraphSAGE-</a:t>
            </a:r>
            <a:r>
              <a:rPr sz="1600" b="1" i="0">
                <a:solidFill>
                  <a:srgbClr val="1F385C"/>
                </a:solidFill>
              </a:rPr>
              <a:t>GCN</a:t>
            </a:r>
            <a:r>
              <a:rPr sz="1600" b="0" i="0">
                <a:solidFill>
                  <a:srgbClr val="262B33"/>
                </a:solidFill>
              </a:rPr>
              <a:t>: unsupervised loss over training</a:t>
            </a:r>
          </a:p>
        </p:txBody>
      </p:sp>
      <p:pic>
        <p:nvPicPr>
          <p:cNvPr id="5" name="Picture 4" descr="slide13_im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434" y="2377440"/>
            <a:ext cx="4884490" cy="3886200"/>
          </a:xfrm>
          <a:prstGeom prst="rect">
            <a:avLst/>
          </a:prstGeom>
        </p:spPr>
      </p:pic>
      <p:pic>
        <p:nvPicPr>
          <p:cNvPr id="6" name="Picture 5" descr="slide13_img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307" y="2377440"/>
            <a:ext cx="488449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10 ·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Performance — supervised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pool</a:t>
            </a:r>
            <a:r>
              <a:rPr sz="1600" b="0" i="0" dirty="0">
                <a:solidFill>
                  <a:srgbClr val="262B33"/>
                </a:solidFill>
              </a:rPr>
              <a:t> (strongest)  vs.  </a:t>
            </a:r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GCN</a:t>
            </a:r>
            <a:r>
              <a:rPr sz="1600" b="0" i="0" dirty="0">
                <a:solidFill>
                  <a:srgbClr val="262B33"/>
                </a:solidFill>
              </a:rPr>
              <a:t> (weakest): supervised performance (F1 micro) over training</a:t>
            </a:r>
          </a:p>
        </p:txBody>
      </p:sp>
      <p:pic>
        <p:nvPicPr>
          <p:cNvPr id="5" name="Picture 4" descr="slide14_im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661" y="2377440"/>
            <a:ext cx="4891621" cy="3886200"/>
          </a:xfrm>
          <a:prstGeom prst="rect">
            <a:avLst/>
          </a:prstGeom>
        </p:spPr>
      </p:pic>
      <p:pic>
        <p:nvPicPr>
          <p:cNvPr id="6" name="Picture 5" descr="slide14_img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307" y="2377440"/>
            <a:ext cx="4891621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10 ·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Performance — unsupervised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pool</a:t>
            </a:r>
            <a:r>
              <a:rPr sz="1600" b="0" i="0" dirty="0">
                <a:solidFill>
                  <a:srgbClr val="262B33"/>
                </a:solidFill>
              </a:rPr>
              <a:t> (strongest)  vs.  </a:t>
            </a:r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GCN</a:t>
            </a:r>
            <a:r>
              <a:rPr sz="1600" b="0" i="0" dirty="0">
                <a:solidFill>
                  <a:srgbClr val="262B33"/>
                </a:solidFill>
              </a:rPr>
              <a:t>: unsupervised performance (MRR) over training</a:t>
            </a:r>
          </a:p>
        </p:txBody>
      </p:sp>
      <p:pic>
        <p:nvPicPr>
          <p:cNvPr id="5" name="Picture 4" descr="slide15_im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434" y="2377440"/>
            <a:ext cx="4884490" cy="3886200"/>
          </a:xfrm>
          <a:prstGeom prst="rect">
            <a:avLst/>
          </a:prstGeom>
        </p:spPr>
      </p:pic>
      <p:pic>
        <p:nvPicPr>
          <p:cNvPr id="6" name="Picture 5" descr="slide15_img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307" y="2377440"/>
            <a:ext cx="488449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10 · TRAINING DYNAMICS</a:t>
            </a:r>
          </a:p>
        </p:txBody>
      </p:sp>
      <p:pic>
        <p:nvPicPr>
          <p:cNvPr id="3" name="Picture 3" descr="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067" y="900000"/>
            <a:ext cx="3253780" cy="2585000"/>
          </a:xfrm>
          <a:prstGeom prst="rect">
            <a:avLst/>
          </a:prstGeom>
        </p:spPr>
      </p:pic>
      <p:pic>
        <p:nvPicPr>
          <p:cNvPr id="4" name="Picture 4" descr="panel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5847" y="900000"/>
            <a:ext cx="3253780" cy="2585000"/>
          </a:xfrm>
          <a:prstGeom prst="rect">
            <a:avLst/>
          </a:prstGeom>
        </p:spPr>
      </p:pic>
      <p:pic>
        <p:nvPicPr>
          <p:cNvPr id="5" name="Picture 5" descr="panel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067" y="3765000"/>
            <a:ext cx="3253780" cy="2585000"/>
          </a:xfrm>
          <a:prstGeom prst="rect">
            <a:avLst/>
          </a:prstGeom>
        </p:spPr>
      </p:pic>
      <p:pic>
        <p:nvPicPr>
          <p:cNvPr id="6" name="Picture 6" descr="panel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5847" y="3765000"/>
            <a:ext cx="3253780" cy="258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10 · TRAINING DYNAMICS</a:t>
            </a:r>
          </a:p>
        </p:txBody>
      </p:sp>
      <p:pic>
        <p:nvPicPr>
          <p:cNvPr id="3" name="Picture 3" descr="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067" y="900000"/>
            <a:ext cx="3253780" cy="2585000"/>
          </a:xfrm>
          <a:prstGeom prst="rect">
            <a:avLst/>
          </a:prstGeom>
        </p:spPr>
      </p:pic>
      <p:pic>
        <p:nvPicPr>
          <p:cNvPr id="4" name="Picture 4" descr="panel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5847" y="900000"/>
            <a:ext cx="3253780" cy="2585000"/>
          </a:xfrm>
          <a:prstGeom prst="rect">
            <a:avLst/>
          </a:prstGeom>
        </p:spPr>
      </p:pic>
      <p:pic>
        <p:nvPicPr>
          <p:cNvPr id="5" name="Picture 5" descr="panel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067" y="3765000"/>
            <a:ext cx="3253780" cy="2585000"/>
          </a:xfrm>
          <a:prstGeom prst="rect">
            <a:avLst/>
          </a:prstGeom>
        </p:spPr>
      </p:pic>
      <p:pic>
        <p:nvPicPr>
          <p:cNvPr id="6" name="Picture 6" descr="panel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5847" y="3765000"/>
            <a:ext cx="3253780" cy="258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11 · EMBEDDING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Step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>
                <a:solidFill>
                  <a:srgbClr val="262B33"/>
                </a:solidFill>
              </a:rPr>
              <a:t>Right after initialization: </a:t>
            </a:r>
            <a:r>
              <a:rPr sz="1600" b="1" i="0" dirty="0">
                <a:solidFill>
                  <a:srgbClr val="1F385C"/>
                </a:solidFill>
              </a:rPr>
              <a:t>structurally different nodes not yet separated</a:t>
            </a:r>
          </a:p>
        </p:txBody>
      </p:sp>
      <p:pic>
        <p:nvPicPr>
          <p:cNvPr id="5" name="Picture 4" descr="slide16_img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222" y="2377440"/>
            <a:ext cx="4867244" cy="3886200"/>
          </a:xfrm>
          <a:prstGeom prst="rect">
            <a:avLst/>
          </a:prstGeom>
        </p:spPr>
      </p:pic>
      <p:pic>
        <p:nvPicPr>
          <p:cNvPr id="6" name="Picture 5" descr="slide16_img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664" y="2377440"/>
            <a:ext cx="509510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11 · EMBEDDING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Step 200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>
                <a:solidFill>
                  <a:srgbClr val="262B33"/>
                </a:solidFill>
              </a:rPr>
              <a:t>Cluster structure already largely in place: </a:t>
            </a:r>
            <a:r>
              <a:rPr sz="1600" b="1" i="0" dirty="0">
                <a:solidFill>
                  <a:srgbClr val="1F385C"/>
                </a:solidFill>
              </a:rPr>
              <a:t>~85× fewer steps than a full epoch</a:t>
            </a:r>
          </a:p>
        </p:txBody>
      </p:sp>
      <p:pic>
        <p:nvPicPr>
          <p:cNvPr id="5" name="Picture 4" descr="slide17_img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222" y="2377440"/>
            <a:ext cx="4867244" cy="3886200"/>
          </a:xfrm>
          <a:prstGeom prst="rect">
            <a:avLst/>
          </a:prstGeom>
        </p:spPr>
      </p:pic>
      <p:pic>
        <p:nvPicPr>
          <p:cNvPr id="6" name="Picture 5" descr="slide17_img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664" y="2377440"/>
            <a:ext cx="509510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11 · EMBEDDING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Step 17</a:t>
            </a:r>
            <a:r>
              <a:rPr lang="it-IT" sz="3000" b="1" i="0" dirty="0">
                <a:solidFill>
                  <a:srgbClr val="1F385C"/>
                </a:solidFill>
              </a:rPr>
              <a:t>,</a:t>
            </a:r>
            <a:r>
              <a:rPr sz="3000" b="1" i="0" dirty="0">
                <a:solidFill>
                  <a:srgbClr val="1F385C"/>
                </a:solidFill>
              </a:rPr>
              <a:t>050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>
                <a:solidFill>
                  <a:srgbClr val="262B33"/>
                </a:solidFill>
              </a:rPr>
              <a:t>Final stage (~1 full epoch): </a:t>
            </a:r>
            <a:r>
              <a:rPr sz="1600" b="1" i="0" dirty="0">
                <a:solidFill>
                  <a:srgbClr val="1F385C"/>
                </a:solidFill>
              </a:rPr>
              <a:t>training mostly refines distances/density from here</a:t>
            </a:r>
          </a:p>
        </p:txBody>
      </p:sp>
      <p:pic>
        <p:nvPicPr>
          <p:cNvPr id="5" name="Picture 4" descr="slide18_img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222" y="2377440"/>
            <a:ext cx="4867244" cy="3886200"/>
          </a:xfrm>
          <a:prstGeom prst="rect">
            <a:avLst/>
          </a:prstGeom>
        </p:spPr>
      </p:pic>
      <p:pic>
        <p:nvPicPr>
          <p:cNvPr id="6" name="Picture 5" descr="slide18_img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664" y="2377440"/>
            <a:ext cx="509510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11 · EMBEDDING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Structural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>
                <a:solidFill>
                  <a:srgbClr val="262B33"/>
                </a:solidFill>
              </a:rPr>
              <a:t>Final stage colored by node </a:t>
            </a:r>
            <a:r>
              <a:rPr sz="1600" b="1" i="0" dirty="0">
                <a:solidFill>
                  <a:srgbClr val="1F385C"/>
                </a:solidFill>
              </a:rPr>
              <a:t>degree</a:t>
            </a:r>
            <a:r>
              <a:rPr sz="1600" b="0" i="0" dirty="0">
                <a:solidFill>
                  <a:srgbClr val="262B33"/>
                </a:solidFill>
              </a:rPr>
              <a:t> instead of split: a direct check of Theorem 1's structural</a:t>
            </a:r>
            <a:r>
              <a:rPr lang="it-IT" sz="1600" b="0" i="0" dirty="0">
                <a:solidFill>
                  <a:srgbClr val="262B33"/>
                </a:solidFill>
              </a:rPr>
              <a:t> </a:t>
            </a:r>
            <a:r>
              <a:rPr sz="1600" b="0" i="0" dirty="0">
                <a:solidFill>
                  <a:srgbClr val="262B33"/>
                </a:solidFill>
              </a:rPr>
              <a:t>signal claim</a:t>
            </a:r>
          </a:p>
        </p:txBody>
      </p:sp>
      <p:pic>
        <p:nvPicPr>
          <p:cNvPr id="5" name="Picture 4" descr="slide19_img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40" y="2560265"/>
            <a:ext cx="5183029" cy="3520548"/>
          </a:xfrm>
          <a:prstGeom prst="rect">
            <a:avLst/>
          </a:prstGeom>
        </p:spPr>
      </p:pic>
      <p:pic>
        <p:nvPicPr>
          <p:cNvPr id="6" name="Picture 5" descr="slide19_img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307" y="2560265"/>
            <a:ext cx="5183029" cy="35205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12 · RESULTS 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340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 dirty="0">
                <a:solidFill>
                  <a:srgbClr val="1F385C"/>
                </a:solidFill>
              </a:rPr>
              <a:t>K-sensitivity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97305"/>
            <a:ext cx="3931920" cy="16346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K=2 beats K=1</a:t>
            </a:r>
            <a:r>
              <a:rPr sz="1400" b="0" i="0" dirty="0">
                <a:solidFill>
                  <a:srgbClr val="262B33"/>
                </a:solidFill>
              </a:rPr>
              <a:t>: 0.585 vs. 0.472 F1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K=3 no better</a:t>
            </a:r>
            <a:r>
              <a:rPr sz="1400" b="0" i="0" dirty="0">
                <a:solidFill>
                  <a:srgbClr val="262B33"/>
                </a:solidFill>
              </a:rPr>
              <a:t>: 0.575, consistent with the paper's “marginal returns beyond K=2”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Same panel also shows the </a:t>
            </a:r>
            <a:r>
              <a:rPr sz="1400" b="1" i="0" dirty="0">
                <a:solidFill>
                  <a:srgbClr val="1F385C"/>
                </a:solidFill>
              </a:rPr>
              <a:t>runtime cost</a:t>
            </a:r>
            <a:r>
              <a:rPr sz="1400" b="0" i="0" dirty="0">
                <a:solidFill>
                  <a:srgbClr val="262B33"/>
                </a:solidFill>
              </a:rPr>
              <a:t> growing with K</a:t>
            </a:r>
          </a:p>
        </p:txBody>
      </p:sp>
      <p:pic>
        <p:nvPicPr>
          <p:cNvPr id="5" name="Picture 4" descr="slide20_img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032" y="1783080"/>
            <a:ext cx="590931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12 · RESULTS 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340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 dirty="0">
                <a:solidFill>
                  <a:srgbClr val="1F385C"/>
                </a:solidFill>
              </a:rPr>
              <a:t>Sample-size 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97305"/>
            <a:ext cx="3931920" cy="16346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More neighbors help</a:t>
            </a:r>
            <a:r>
              <a:rPr sz="1400" b="0" i="0" dirty="0">
                <a:solidFill>
                  <a:srgbClr val="262B33"/>
                </a:solidFill>
              </a:rPr>
              <a:t>: 0.536 → 0.640 F1 from S=5 to S=75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Diminishing returns</a:t>
            </a:r>
            <a:r>
              <a:rPr sz="1400" b="0" i="0" dirty="0">
                <a:solidFill>
                  <a:srgbClr val="262B33"/>
                </a:solidFill>
              </a:rPr>
              <a:t>: most of the gain lands by S=25 (0.593); doubling S again to 75 adds only ~0.05 more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Same panel also shows the </a:t>
            </a:r>
            <a:r>
              <a:rPr sz="1400" b="1" i="0" dirty="0">
                <a:solidFill>
                  <a:srgbClr val="1F385C"/>
                </a:solidFill>
              </a:rPr>
              <a:t>runtime cost</a:t>
            </a:r>
            <a:r>
              <a:rPr sz="1400" b="0" i="0" dirty="0">
                <a:solidFill>
                  <a:srgbClr val="262B33"/>
                </a:solidFill>
              </a:rPr>
              <a:t> growing with S (0.35 → 0.83 sec/iteration)</a:t>
            </a:r>
          </a:p>
        </p:txBody>
      </p:sp>
      <p:pic>
        <p:nvPicPr>
          <p:cNvPr id="5" name="Picture 4" descr="ppi_sample_siz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032" y="1783080"/>
            <a:ext cx="590931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 dirty="0">
                <a:solidFill>
                  <a:srgbClr val="9AA5B1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13 · RESULTS VI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 dirty="0">
                <a:solidFill>
                  <a:srgbClr val="1F385C"/>
                </a:solidFill>
              </a:rPr>
              <a:t>Noise robustness (Theorem 1, empirical)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54183"/>
            <a:ext cx="3931920" cy="1882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 err="1">
                <a:solidFill>
                  <a:srgbClr val="1F385C"/>
                </a:solidFill>
              </a:rPr>
              <a:t>GraphSAGE</a:t>
            </a:r>
            <a:r>
              <a:rPr sz="1400" b="1" i="0" dirty="0">
                <a:solidFill>
                  <a:srgbClr val="1F385C"/>
                </a:solidFill>
              </a:rPr>
              <a:t>-pool</a:t>
            </a:r>
            <a:r>
              <a:rPr sz="1400" b="0" i="0" dirty="0">
                <a:solidFill>
                  <a:srgbClr val="262B33"/>
                </a:solidFill>
              </a:rPr>
              <a:t> stays above both GCN and the raw-features baseline at every noise level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GCN falls below raw features</a:t>
            </a:r>
            <a:r>
              <a:rPr sz="1400" b="0" i="0" dirty="0">
                <a:solidFill>
                  <a:srgbClr val="262B33"/>
                </a:solidFill>
              </a:rPr>
              <a:t> at full noise (0.389 vs. 0.393)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Exactly the structural-reliance gap </a:t>
            </a:r>
            <a:r>
              <a:rPr sz="1400" b="1" i="0" dirty="0">
                <a:solidFill>
                  <a:srgbClr val="1F385C"/>
                </a:solidFill>
              </a:rPr>
              <a:t>Theorem 1</a:t>
            </a:r>
            <a:r>
              <a:rPr sz="1400" b="0" i="0" dirty="0">
                <a:solidFill>
                  <a:srgbClr val="262B33"/>
                </a:solidFill>
              </a:rPr>
              <a:t> predicts</a:t>
            </a:r>
          </a:p>
        </p:txBody>
      </p:sp>
      <p:pic>
        <p:nvPicPr>
          <p:cNvPr id="5" name="Picture 4" descr="slide21_img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762" y="1783080"/>
            <a:ext cx="6205849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14 · DISCUSSION &amp; 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What this reproduction shows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57400"/>
            <a:ext cx="10820095" cy="19633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600" b="0" i="0" dirty="0">
                <a:solidFill>
                  <a:srgbClr val="1BAF7A"/>
                </a:solidFill>
              </a:rPr>
              <a:t>●   </a:t>
            </a:r>
            <a:r>
              <a:rPr sz="1600" b="0" i="0" dirty="0">
                <a:solidFill>
                  <a:srgbClr val="262B33"/>
                </a:solidFill>
              </a:rPr>
              <a:t>Qualitative ordering </a:t>
            </a:r>
            <a:r>
              <a:rPr sz="1600" b="1" i="0" dirty="0">
                <a:solidFill>
                  <a:srgbClr val="1F385C"/>
                </a:solidFill>
              </a:rPr>
              <a:t>survives the scale</a:t>
            </a:r>
            <a:r>
              <a:rPr lang="it-IT" sz="1600" b="1" i="0" dirty="0">
                <a:solidFill>
                  <a:srgbClr val="1F385C"/>
                </a:solidFill>
              </a:rPr>
              <a:t> </a:t>
            </a:r>
            <a:r>
              <a:rPr sz="1600" b="1" i="0" dirty="0">
                <a:solidFill>
                  <a:srgbClr val="1F385C"/>
                </a:solidFill>
              </a:rPr>
              <a:t>down</a:t>
            </a:r>
            <a:r>
              <a:rPr sz="1600" b="0" i="0" dirty="0">
                <a:solidFill>
                  <a:srgbClr val="262B33"/>
                </a:solidFill>
              </a:rPr>
              <a:t>: </a:t>
            </a:r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 ≫ Raw features &gt; Random, supervised ≥ unsupervised — GCN weakest and pool strongest whether supervised or unsupervised, matching the paper's own ranking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600" b="0" i="0" dirty="0">
                <a:solidFill>
                  <a:srgbClr val="1BAF7A"/>
                </a:solidFill>
              </a:rPr>
              <a:t>●   </a:t>
            </a:r>
            <a:r>
              <a:rPr sz="1600" b="0" i="0" dirty="0">
                <a:solidFill>
                  <a:srgbClr val="262B33"/>
                </a:solidFill>
              </a:rPr>
              <a:t>Numerical gaps vs. paper explained by: reduced hyperparameter grid, fewer seeds, TensorFlow version drift, different hardware (1× RTX 2060 SUPER vs. 4× Titan X Pascal)</a:t>
            </a:r>
          </a:p>
          <a:p>
            <a:pPr>
              <a:lnSpc>
                <a:spcPct val="115000"/>
              </a:lnSpc>
            </a:pPr>
            <a:r>
              <a:rPr sz="1600" b="0" i="0" dirty="0">
                <a:solidFill>
                  <a:srgbClr val="1BAF7A"/>
                </a:solidFill>
              </a:rPr>
              <a:t>●   </a:t>
            </a:r>
            <a:r>
              <a:rPr lang="it-IT" sz="1600" dirty="0">
                <a:solidFill>
                  <a:srgbClr val="262B33"/>
                </a:solidFill>
              </a:rPr>
              <a:t>T</a:t>
            </a:r>
            <a:r>
              <a:rPr sz="1600" b="0" i="0" dirty="0" err="1">
                <a:solidFill>
                  <a:srgbClr val="262B33"/>
                </a:solidFill>
              </a:rPr>
              <a:t>heoretical</a:t>
            </a:r>
            <a:r>
              <a:rPr sz="1600" b="0" i="0" dirty="0">
                <a:solidFill>
                  <a:srgbClr val="262B33"/>
                </a:solidFill>
              </a:rPr>
              <a:t> claims (</a:t>
            </a:r>
            <a:r>
              <a:rPr sz="1600" b="1" i="0" dirty="0">
                <a:solidFill>
                  <a:srgbClr val="1F385C"/>
                </a:solidFill>
              </a:rPr>
              <a:t>K</a:t>
            </a:r>
            <a:r>
              <a:rPr lang="it-IT" sz="1600" b="1" i="0" dirty="0">
                <a:solidFill>
                  <a:srgbClr val="1F385C"/>
                </a:solidFill>
              </a:rPr>
              <a:t>, </a:t>
            </a:r>
            <a:r>
              <a:rPr lang="it-IT" sz="1600" b="1" dirty="0">
                <a:solidFill>
                  <a:srgbClr val="1F385C"/>
                </a:solidFill>
              </a:rPr>
              <a:t>sample-size sensitivity</a:t>
            </a:r>
            <a:r>
              <a:rPr lang="it-IT" sz="1600" dirty="0">
                <a:solidFill>
                  <a:srgbClr val="262B33"/>
                </a:solidFill>
              </a:rPr>
              <a:t> </a:t>
            </a:r>
            <a:r>
              <a:rPr sz="1600" b="0" i="0" dirty="0">
                <a:solidFill>
                  <a:srgbClr val="262B33"/>
                </a:solidFill>
              </a:rPr>
              <a:t>and </a:t>
            </a:r>
            <a:r>
              <a:rPr sz="1600" b="1" i="0" dirty="0">
                <a:solidFill>
                  <a:srgbClr val="1F385C"/>
                </a:solidFill>
              </a:rPr>
              <a:t>noise</a:t>
            </a:r>
            <a:r>
              <a:rPr lang="it-IT" sz="1600" b="1" i="0" dirty="0">
                <a:solidFill>
                  <a:srgbClr val="1F385C"/>
                </a:solidFill>
              </a:rPr>
              <a:t> </a:t>
            </a:r>
            <a:r>
              <a:rPr sz="1600" b="1" i="0" dirty="0">
                <a:solidFill>
                  <a:srgbClr val="1F385C"/>
                </a:solidFill>
              </a:rPr>
              <a:t>robustness</a:t>
            </a:r>
            <a:r>
              <a:rPr sz="1600" b="0" i="0" dirty="0">
                <a:solidFill>
                  <a:srgbClr val="262B33"/>
                </a:solidFill>
              </a:rPr>
              <a:t>) independently </a:t>
            </a:r>
            <a:r>
              <a:rPr sz="1600" b="1" i="0" dirty="0">
                <a:solidFill>
                  <a:srgbClr val="1F385C"/>
                </a:solidFill>
              </a:rPr>
              <a:t>verified on PPI</a:t>
            </a:r>
            <a:r>
              <a:rPr sz="1600" b="0" i="0" dirty="0">
                <a:solidFill>
                  <a:srgbClr val="262B33"/>
                </a:solidFill>
              </a:rPr>
              <a:t>, not just asserted</a:t>
            </a:r>
            <a:r>
              <a:rPr lang="it-IT" sz="1600" b="0" i="0" dirty="0">
                <a:solidFill>
                  <a:srgbClr val="262B33"/>
                </a:solidFill>
              </a:rPr>
              <a:t>.</a:t>
            </a:r>
            <a:endParaRPr sz="1600" b="0" i="0" dirty="0">
              <a:solidFill>
                <a:srgbClr val="262B33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2880360"/>
            <a:ext cx="121916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600" b="1" i="0">
                <a:solidFill>
                  <a:srgbClr val="1F385C"/>
                </a:solidFill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9224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9AA5B1"/>
                </a:solidFill>
              </a:rPr>
              <a:t>GraphSAGE on PPI – Scaled Reproduction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503</TotalTime>
  <Words>2103</Words>
  <Application>Microsoft Office PowerPoint</Application>
  <PresentationFormat>Widescreen</PresentationFormat>
  <Paragraphs>246</Paragraphs>
  <Slides>30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5" baseType="lpstr">
      <vt:lpstr>Arial</vt:lpstr>
      <vt:lpstr>Calibri</vt:lpstr>
      <vt:lpstr>Consolas</vt:lpstr>
      <vt:lpstr>Wingdings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Federico Cerutti</cp:lastModifiedBy>
  <cp:revision>69</cp:revision>
  <dcterms:created xsi:type="dcterms:W3CDTF">2013-01-27T09:14:16Z</dcterms:created>
  <dcterms:modified xsi:type="dcterms:W3CDTF">2026-09-17T13:06:35Z</dcterms:modified>
  <cp:category/>
</cp:coreProperties>
</file>