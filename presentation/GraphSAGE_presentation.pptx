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73" r:id="rId19"/>
    <p:sldId id="274" r:id="rId18"/>
    <p:sldId id="275" r:id="rId24"/>
    <p:sldId id="276" r:id="rId25"/>
    <p:sldId id="277" r:id="rId26"/>
    <p:sldId id="278" r:id="rId27"/>
    <p:sldId id="279" r:id="rId28"/>
    <p:sldId id="280" r:id="rId2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3.xml"/><Relationship Id="rId19" Type="http://schemas.openxmlformats.org/officeDocument/2006/relationships/slide" Target="slides/slide12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3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800">
                <a:solidFill>
                  <a:srgbClr val="1F385C"/>
                </a:solidFill>
              </a:rPr>
              <a:t>GraphSAGE: Inductive Representation
Learning on Large Graphs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703320"/>
            <a:ext cx="1280160" cy="50800"/>
          </a:xfrm>
          <a:prstGeom prst="rect">
            <a:avLst/>
          </a:prstGeom>
          <a:solidFill>
            <a:srgbClr val="1B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8862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i="1" sz="1800">
                <a:solidFill>
                  <a:srgbClr val="595959"/>
                </a:solidFill>
              </a:rPr>
              <a:t>Reproducing and evaluating Hamilton, Ying &amp; Leskovec (2017) on the PPI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0644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1F385C"/>
                </a:solidFill>
              </a:rPr>
              <a:t>Federico Cerutti - 85644A</a:t>
            </a:r>
          </a:p>
          <a:p>
            <a:r>
              <a:rPr sz="1200">
                <a:solidFill>
                  <a:srgbClr val="595959"/>
                </a:solidFill>
              </a:rPr>
              <a:t>[Course Name]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i="1" sz="1000">
                <a:solidFill>
                  <a:srgbClr val="8C8C8C"/>
                </a:solidFill>
              </a:rPr>
              <a:t>GraphSAGE on PPI – Scaled Reproduction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46520"/>
            <a:ext cx="54864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8C8C8C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b="1" sz="2800">
                <a:solidFill>
                  <a:srgbClr val="1F385C"/>
                </a:solidFill>
              </a:rPr>
              <a:t>1. Introduction &amp; 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05840" cy="44450"/>
          </a:xfrm>
          <a:prstGeom prst="rect">
            <a:avLst/>
          </a:prstGeom>
          <a:solidFill>
            <a:srgbClr val="1B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541004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>
                <a:solidFill>
                  <a:srgbClr val="1BAF7A"/>
                </a:solidFill>
              </a:rPr>
              <a:t>Why graph representation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410047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333333"/>
                </a:solidFill>
              </a:rPr>
              <a:t>▪  Many real problems are naturally </a:t>
            </a:r>
            <a:r>
              <a:rPr sz="1500" b="1">
                <a:solidFill>
                  <a:srgbClr val="333333"/>
                </a:solidFill>
              </a:rPr>
              <a:t>graphs</a:t>
            </a:r>
            <a:r>
              <a:rPr sz="1500" b="0">
                <a:solidFill>
                  <a:srgbClr val="333333"/>
                </a:solidFill>
              </a:rPr>
              <a:t>: proteins, social networks, citations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333333"/>
                </a:solidFill>
              </a:rPr>
              <a:t>▪  Downstream tasks (classification, link prediction) need a </a:t>
            </a:r>
            <a:r>
              <a:rPr sz="1500" b="1">
                <a:solidFill>
                  <a:srgbClr val="333333"/>
                </a:solidFill>
              </a:rPr>
              <a:t>vector per node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333333"/>
                </a:solidFill>
              </a:rPr>
              <a:t>▪  Hand-crafted features don't generalize -- want *learned* embeddings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78727" y="1371600"/>
            <a:ext cx="541004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>
                <a:solidFill>
                  <a:srgbClr val="1F385C"/>
                </a:solidFill>
              </a:rPr>
              <a:t>The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78727" y="1828800"/>
            <a:ext cx="5410047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333333"/>
                </a:solidFill>
              </a:rPr>
              <a:t>▪  Classic methods (DeepWalk, node2vec, LINE) learn one free vector </a:t>
            </a:r>
            <a:r>
              <a:rPr sz="1500" b="1">
                <a:solidFill>
                  <a:srgbClr val="333333"/>
                </a:solidFill>
              </a:rPr>
              <a:t>per node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333333"/>
                </a:solidFill>
              </a:rPr>
              <a:t>▪  They only work for nodes seen during training -- </a:t>
            </a:r>
            <a:r>
              <a:rPr sz="1500" b="1">
                <a:solidFill>
                  <a:srgbClr val="333333"/>
                </a:solidFill>
              </a:rPr>
              <a:t>transductive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333333"/>
                </a:solidFill>
              </a:rPr>
              <a:t>▪  Goal: an embedding function that generalizes to </a:t>
            </a:r>
            <a:r>
              <a:rPr sz="1500" b="1">
                <a:solidFill>
                  <a:srgbClr val="333333"/>
                </a:solidFill>
              </a:rPr>
              <a:t>unseen nodes and graphs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i="1" sz="1000">
                <a:solidFill>
                  <a:srgbClr val="8C8C8C"/>
                </a:solidFill>
              </a:rPr>
              <a:t>GraphSAGE on PPI – Scaled Reproduction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46520"/>
            <a:ext cx="54864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8C8C8C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b="1" sz="2800">
                <a:solidFill>
                  <a:srgbClr val="1F385C"/>
                </a:solidFill>
              </a:rPr>
              <a:t>2. Two Paradigms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05840" cy="44450"/>
          </a:xfrm>
          <a:prstGeom prst="rect">
            <a:avLst/>
          </a:prstGeom>
          <a:solidFill>
            <a:srgbClr val="1B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2011680"/>
            <a:ext cx="4754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011680"/>
            <a:ext cx="47548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500">
                <a:solidFill>
                  <a:srgbClr val="1BAF7A"/>
                </a:solidFill>
              </a:rPr>
              <a:t>Transductive (DeepWalk / node2vec)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4114800" cy="2377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00" b="0">
                <a:solidFill>
                  <a:srgbClr val="333333"/>
                </a:solidFill>
              </a:rPr>
              <a:t>▪  Learns a </a:t>
            </a:r>
            <a:r>
              <a:rPr sz="1300" b="1">
                <a:solidFill>
                  <a:srgbClr val="333333"/>
                </a:solidFill>
              </a:rPr>
              <a:t>lookup table</a:t>
            </a:r>
            <a:r>
              <a:rPr sz="1300" b="0">
                <a:solidFill>
                  <a:srgbClr val="333333"/>
                </a:solidFill>
              </a:rPr>
              <a:t>, one row per node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00" b="0">
                <a:solidFill>
                  <a:srgbClr val="333333"/>
                </a:solidFill>
              </a:rPr>
              <a:t>▪  Embedding space can rotate between runs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00" b="0">
                <a:solidFill>
                  <a:srgbClr val="333333"/>
                </a:solidFill>
              </a:rPr>
              <a:t>▪  Fails on unseen nodes / unseen graphs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33895" y="2011680"/>
            <a:ext cx="4754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33895" y="2011680"/>
            <a:ext cx="4754880" cy="502920"/>
          </a:xfrm>
          <a:prstGeom prst="roundRect">
            <a:avLst/>
          </a:prstGeom>
          <a:solidFill>
            <a:srgbClr val="1F3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500">
                <a:solidFill>
                  <a:srgbClr val="FFFFFF"/>
                </a:solidFill>
              </a:rPr>
              <a:t>Inductive (GraphSAGE)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53935" y="2788920"/>
            <a:ext cx="4114800" cy="2377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00" b="0">
                <a:solidFill>
                  <a:srgbClr val="333333"/>
                </a:solidFill>
              </a:rPr>
              <a:t>▪  Learns a </a:t>
            </a:r>
            <a:r>
              <a:rPr sz="1300" b="1">
                <a:solidFill>
                  <a:srgbClr val="333333"/>
                </a:solidFill>
              </a:rPr>
              <a:t>function</a:t>
            </a:r>
            <a:r>
              <a:rPr sz="1300" b="0">
                <a:solidFill>
                  <a:srgbClr val="333333"/>
                </a:solidFill>
              </a:rPr>
              <a:t> over local neighborhoods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00" b="0">
                <a:solidFill>
                  <a:srgbClr val="333333"/>
                </a:solidFill>
              </a:rPr>
              <a:t>▪  Same function applies to brand-new nodes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00" b="0">
                <a:solidFill>
                  <a:srgbClr val="333333"/>
                </a:solidFill>
              </a:rPr>
              <a:t>▪  Works on unseen nodes, even unseen graphs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342900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i="1" b="1" sz="1600">
                <a:solidFill>
                  <a:srgbClr val="595959"/>
                </a:solidFill>
              </a:rPr>
              <a:t>vs.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577840"/>
            <a:ext cx="11185855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333333"/>
                </a:solidFill>
              </a:rPr>
              <a:t>Thesis</a:t>
            </a:r>
            <a:r>
              <a:rPr sz="1400" b="0">
                <a:solidFill>
                  <a:srgbClr val="333333"/>
                </a:solidFill>
              </a:rPr>
              <a:t>: an inductive, neighborhood-aggregating function generalizes where a per-node lookup table cannot.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i="1" sz="1000">
                <a:solidFill>
                  <a:srgbClr val="8C8C8C"/>
                </a:solidFill>
              </a:rPr>
              <a:t>GraphSAGE on PPI – Scaled Reproduction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46520"/>
            <a:ext cx="54864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8C8C8C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b="1" sz="2800">
                <a:solidFill>
                  <a:srgbClr val="1F385C"/>
                </a:solidFill>
              </a:rPr>
              <a:t>3. Method: Algorithm 1 (Sample → Aggregate → Predict)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05840" cy="44450"/>
          </a:xfrm>
          <a:prstGeom prst="rect">
            <a:avLst/>
          </a:prstGeom>
          <a:solidFill>
            <a:srgbClr val="1B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85855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0">
                <a:solidFill>
                  <a:srgbClr val="333333"/>
                </a:solidFill>
              </a:rPr>
              <a:t>▪  </a:t>
            </a:r>
            <a:r>
              <a:rPr sz="1400" b="1">
                <a:solidFill>
                  <a:srgbClr val="333333"/>
                </a:solidFill>
              </a:rPr>
              <a:t>Sample</a:t>
            </a:r>
            <a:r>
              <a:rPr sz="1400" b="0">
                <a:solidFill>
                  <a:srgbClr val="333333"/>
                </a:solidFill>
              </a:rPr>
              <a:t>: fixed-size neighborhood N(v), re-drawn every iteration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0">
                <a:solidFill>
                  <a:srgbClr val="333333"/>
                </a:solidFill>
              </a:rPr>
              <a:t>▪  </a:t>
            </a:r>
            <a:r>
              <a:rPr sz="1400" b="1">
                <a:solidFill>
                  <a:srgbClr val="333333"/>
                </a:solidFill>
              </a:rPr>
              <a:t>Aggregate + combine</a:t>
            </a:r>
            <a:r>
              <a:rPr sz="1400" b="0">
                <a:solidFill>
                  <a:srgbClr val="333333"/>
                </a:solidFill>
              </a:rPr>
              <a:t>: h_v^k = σ(W^k · CONCAT(h_v^(k-1), h_N(v)^k)), then unit-normalize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0">
                <a:solidFill>
                  <a:srgbClr val="333333"/>
                </a:solidFill>
              </a:rPr>
              <a:t>▪  Repeat for k = 1...K hops → final embedding z_v = h_v^K   |   cost O(∏S_i), independent of |V|</a:t>
            </a:r>
          </a:p>
        </p:txBody>
      </p:sp>
      <p:pic>
        <p:nvPicPr>
          <p:cNvPr id="5" name="Picture 4" descr="pipeline_illu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7711" y="3063240"/>
            <a:ext cx="5796271" cy="2606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806440"/>
            <a:ext cx="11185855" cy="27432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ctr"/>
            <a:r>
              <a:rPr i="1" sz="1100">
                <a:solidFill>
                  <a:srgbClr val="595959"/>
                </a:solidFill>
              </a:rPr>
              <a:t>K = |V| + identity weights ⇔ exactly the Weisfeiler-Lehman isomorphism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i="1" sz="1000">
                <a:solidFill>
                  <a:srgbClr val="8C8C8C"/>
                </a:solidFill>
              </a:rPr>
              <a:t>GraphSAGE on PPI – Scaled Reproduction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46520"/>
            <a:ext cx="54864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8C8C8C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b="1" sz="2800">
                <a:solidFill>
                  <a:srgbClr val="1F385C"/>
                </a:solidFill>
              </a:rPr>
              <a:t>4. Dataset: PPI (Protein-Protein Interaction)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05840" cy="44450"/>
          </a:xfrm>
          <a:prstGeom prst="rect">
            <a:avLst/>
          </a:prstGeom>
          <a:solidFill>
            <a:srgbClr val="1B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463040"/>
            <a:ext cx="5318607" cy="1737360"/>
          </a:xfrm>
          <a:prstGeom prst="roundRect">
            <a:avLst/>
          </a:prstGeom>
          <a:solidFill>
            <a:srgbClr val="F4F6F7"/>
          </a:solidFill>
          <a:ln w="12700">
            <a:solidFill>
              <a:srgbClr val="1F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b="1" sz="2200">
                <a:solidFill>
                  <a:srgbClr val="1BAF7A"/>
                </a:solidFill>
              </a:rPr>
              <a:t>24 graphs</a:t>
            </a:r>
          </a:p>
          <a:p>
            <a:pPr algn="l"/>
            <a:r>
              <a:rPr sz="1300">
                <a:solidFill>
                  <a:srgbClr val="333333"/>
                </a:solidFill>
              </a:rPr>
              <a:t>20 train / 2 val / 2 test split -- cross-graph generalization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70167" y="1463040"/>
            <a:ext cx="5318607" cy="1737360"/>
          </a:xfrm>
          <a:prstGeom prst="roundRect">
            <a:avLst/>
          </a:prstGeom>
          <a:solidFill>
            <a:srgbClr val="F4F6F7"/>
          </a:solidFill>
          <a:ln w="12700">
            <a:solidFill>
              <a:srgbClr val="1F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b="1" sz="2200">
                <a:solidFill>
                  <a:srgbClr val="1BAF7A"/>
                </a:solidFill>
              </a:rPr>
              <a:t>56,944 nodes</a:t>
            </a:r>
          </a:p>
          <a:p>
            <a:pPr algn="l"/>
            <a:r>
              <a:rPr sz="1300">
                <a:solidFill>
                  <a:srgbClr val="333333"/>
                </a:solidFill>
              </a:rPr>
              <a:t>total, across all 24 graphs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383280"/>
            <a:ext cx="5318607" cy="1737360"/>
          </a:xfrm>
          <a:prstGeom prst="roundRect">
            <a:avLst/>
          </a:prstGeom>
          <a:solidFill>
            <a:srgbClr val="F4F6F7"/>
          </a:solidFill>
          <a:ln w="12700">
            <a:solidFill>
              <a:srgbClr val="1F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b="1" sz="2200">
                <a:solidFill>
                  <a:srgbClr val="1BAF7A"/>
                </a:solidFill>
              </a:rPr>
              <a:t>121 GO terms</a:t>
            </a:r>
          </a:p>
          <a:p>
            <a:pPr algn="l"/>
            <a:r>
              <a:rPr sz="1300">
                <a:solidFill>
                  <a:srgbClr val="333333"/>
                </a:solidFill>
              </a:rPr>
              <a:t>multi-label -- a protein can have several functions at once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70167" y="3383280"/>
            <a:ext cx="5318607" cy="1737360"/>
          </a:xfrm>
          <a:prstGeom prst="roundRect">
            <a:avLst/>
          </a:prstGeom>
          <a:solidFill>
            <a:srgbClr val="F4F6F7"/>
          </a:solidFill>
          <a:ln w="12700">
            <a:solidFill>
              <a:srgbClr val="1F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b="1" sz="2200">
                <a:solidFill>
                  <a:srgbClr val="1BAF7A"/>
                </a:solidFill>
              </a:rPr>
              <a:t>50-dim features</a:t>
            </a:r>
          </a:p>
          <a:p>
            <a:pPr algn="l"/>
            <a:r>
              <a:rPr sz="1300">
                <a:solidFill>
                  <a:srgbClr val="333333"/>
                </a:solidFill>
              </a:rPr>
              <a:t>positional/motif gene sets + immunological signatures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i="1" sz="1000">
                <a:solidFill>
                  <a:srgbClr val="8C8C8C"/>
                </a:solidFill>
              </a:rPr>
              <a:t>GraphSAGE on PPI – Scaled Reproduction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46520"/>
            <a:ext cx="54864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8C8C8C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b="1" sz="2800">
                <a:solidFill>
                  <a:srgbClr val="1F385C"/>
                </a:solidFill>
              </a:rPr>
              <a:t>5. Objective Functions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05840" cy="44450"/>
          </a:xfrm>
          <a:prstGeom prst="rect">
            <a:avLst/>
          </a:prstGeom>
          <a:solidFill>
            <a:srgbClr val="1B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11185855" cy="1828800"/>
          </a:xfrm>
          <a:prstGeom prst="roundRect">
            <a:avLst/>
          </a:prstGeom>
          <a:solidFill>
            <a:srgbClr val="F4F6F7"/>
          </a:solidFill>
          <a:ln w="12700">
            <a:solidFill>
              <a:srgbClr val="1B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/>
            <a:r>
              <a:rPr b="1" sz="1600">
                <a:solidFill>
                  <a:srgbClr val="1BAF7A"/>
                </a:solidFill>
              </a:rPr>
              <a:t>Unsupervised (skip-gram style, Eq. 1)</a:t>
            </a:r>
          </a:p>
          <a:p>
            <a:pPr>
              <a:spcBef>
                <a:spcPts val="800"/>
              </a:spcBef>
            </a:pPr>
            <a:r>
              <a:rPr sz="1500" i="1">
                <a:solidFill>
                  <a:srgbClr val="333333"/>
                </a:solidFill>
              </a:rPr>
              <a:t>J(z_u) = −log σ(z_uᵀz_v) − Q·E[log σ(−z_uᵀz_vn)]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595959"/>
                </a:solidFill>
              </a:rPr>
              <a:t>v co-occurs with u on a random walk; negatives sampled from P_n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20440"/>
            <a:ext cx="11185855" cy="1828800"/>
          </a:xfrm>
          <a:prstGeom prst="roundRect">
            <a:avLst/>
          </a:prstGeom>
          <a:solidFill>
            <a:srgbClr val="1F385C"/>
          </a:solidFill>
          <a:ln>
            <a:solidFill>
              <a:srgbClr val="1F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/>
            <a:r>
              <a:rPr b="1" sz="1600">
                <a:solidFill>
                  <a:srgbClr val="FFFFFF"/>
                </a:solidFill>
              </a:rPr>
              <a:t>Supervised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FFFFFF"/>
                </a:solidFill>
              </a:rPr>
              <a:t>PPI is multi-label ⇒ per-class sigmoid cross-entropy, not softmax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D8E0E8"/>
                </a:solidFill>
              </a:rPr>
              <a:t>Replaces (or complements) the unsupervised loss for the downstream task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i="1" sz="1000">
                <a:solidFill>
                  <a:srgbClr val="8C8C8C"/>
                </a:solidFill>
              </a:rPr>
              <a:t>GraphSAGE on PPI – Scaled Reproduction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46520"/>
            <a:ext cx="54864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8C8C8C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b="1" sz="2800">
                <a:solidFill>
                  <a:srgbClr val="1F385C"/>
                </a:solidFill>
              </a:rPr>
              <a:t>6. Aggregator Architectures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05840" cy="44450"/>
          </a:xfrm>
          <a:prstGeom prst="rect">
            <a:avLst/>
          </a:prstGeom>
          <a:solidFill>
            <a:srgbClr val="1B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85855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0">
                <a:solidFill>
                  <a:srgbClr val="333333"/>
                </a:solidFill>
              </a:rPr>
              <a:t>▪  </a:t>
            </a:r>
            <a:r>
              <a:rPr sz="1400" b="1">
                <a:solidFill>
                  <a:srgbClr val="333333"/>
                </a:solidFill>
              </a:rPr>
              <a:t>Mean / GCN</a:t>
            </a:r>
            <a:r>
              <a:rPr sz="1400" b="0">
                <a:solidFill>
                  <a:srgbClr val="333333"/>
                </a:solidFill>
              </a:rPr>
              <a:t>: elementwise average of neighbors; GCN drops the self skip-connection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0">
                <a:solidFill>
                  <a:srgbClr val="333333"/>
                </a:solidFill>
              </a:rPr>
              <a:t>▪  </a:t>
            </a:r>
            <a:r>
              <a:rPr sz="1400" b="1">
                <a:solidFill>
                  <a:srgbClr val="333333"/>
                </a:solidFill>
              </a:rPr>
              <a:t>Pool</a:t>
            </a:r>
            <a:r>
              <a:rPr sz="1400" b="0">
                <a:solidFill>
                  <a:srgbClr val="333333"/>
                </a:solidFill>
              </a:rPr>
              <a:t>: each neighbor through a shared MLP, then elementwise </a:t>
            </a:r>
            <a:r>
              <a:rPr sz="1400" b="1">
                <a:solidFill>
                  <a:srgbClr val="333333"/>
                </a:solidFill>
              </a:rPr>
              <a:t>max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0">
                <a:solidFill>
                  <a:srgbClr val="333333"/>
                </a:solidFill>
              </a:rPr>
              <a:t>▪  </a:t>
            </a:r>
            <a:r>
              <a:rPr sz="1400" b="1">
                <a:solidFill>
                  <a:srgbClr val="333333"/>
                </a:solidFill>
              </a:rPr>
              <a:t>LSTM</a:t>
            </a:r>
            <a:r>
              <a:rPr sz="1400" b="0">
                <a:solidFill>
                  <a:srgbClr val="333333"/>
                </a:solidFill>
              </a:rPr>
              <a:t>: neighbors fed in </a:t>
            </a:r>
            <a:r>
              <a:rPr sz="1400" b="1">
                <a:solidFill>
                  <a:srgbClr val="333333"/>
                </a:solidFill>
              </a:rPr>
              <a:t>random order</a:t>
            </a:r>
            <a:r>
              <a:rPr sz="1400" b="0">
                <a:solidFill>
                  <a:srgbClr val="333333"/>
                </a:solidFill>
              </a:rPr>
              <a:t> -- not permutation-invariant in theory, strong in practice</a:t>
            </a:r>
          </a:p>
        </p:txBody>
      </p:sp>
      <p:pic>
        <p:nvPicPr>
          <p:cNvPr id="5" name="Picture 4" descr="aggregator_architec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8783" y="2606040"/>
            <a:ext cx="5454127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i="1" sz="1000">
                <a:solidFill>
                  <a:srgbClr val="8C8C8C"/>
                </a:solidFill>
              </a:rPr>
              <a:t>GraphSAGE on PPI – Scaled Reproduction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46520"/>
            <a:ext cx="54864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8C8C8C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b="1" sz="2800">
                <a:solidFill>
                  <a:srgbClr val="1F385C"/>
                </a:solidFill>
              </a:rPr>
              <a:t>7. Theoretical Result: Theorem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05840" cy="44450"/>
          </a:xfrm>
          <a:prstGeom prst="rect">
            <a:avLst/>
          </a:prstGeom>
          <a:solidFill>
            <a:srgbClr val="1B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11185855" cy="3108960"/>
          </a:xfrm>
          <a:prstGeom prst="roundRect">
            <a:avLst/>
          </a:prstGeom>
          <a:solidFill>
            <a:srgbClr val="F4F6F7"/>
          </a:solidFill>
          <a:ln w="15875">
            <a:solidFill>
              <a:srgbClr val="1F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/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1600" b="0">
                <a:solidFill>
                  <a:srgbClr val="333333"/>
                </a:solidFill>
              </a:rPr>
              <a:t>▪  Given </a:t>
            </a:r>
            <a:r>
              <a:rPr sz="1600" b="1">
                <a:solidFill>
                  <a:srgbClr val="333333"/>
                </a:solidFill>
              </a:rPr>
              <a:t>sufficiently distinct</a:t>
            </a:r>
            <a:r>
              <a:rPr sz="1600" b="0">
                <a:solidFill>
                  <a:srgbClr val="333333"/>
                </a:solidFill>
              </a:rPr>
              <a:t> node features, the </a:t>
            </a:r>
            <a:r>
              <a:rPr sz="1600" b="1">
                <a:solidFill>
                  <a:srgbClr val="333333"/>
                </a:solidFill>
              </a:rPr>
              <a:t>pooling</a:t>
            </a:r>
            <a:r>
              <a:rPr sz="1600" b="0">
                <a:solidFill>
                  <a:srgbClr val="333333"/>
                </a:solidFill>
              </a:rPr>
              <a:t> aggregator with K=4 can approximate a node's </a:t>
            </a:r>
            <a:r>
              <a:rPr sz="1600" b="1">
                <a:solidFill>
                  <a:srgbClr val="333333"/>
                </a:solidFill>
              </a:rPr>
              <a:t>clustering coefficient</a:t>
            </a:r>
            <a:r>
              <a:rPr sz="1600" b="0">
                <a:solidFill>
                  <a:srgbClr val="333333"/>
                </a:solidFill>
              </a:rPr>
              <a:t> to arbitrary precision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0">
                <a:solidFill>
                  <a:srgbClr val="333333"/>
                </a:solidFill>
              </a:rPr>
              <a:t>▪  Proof idea: pooling + ≥2 hidden layers can learn a unique one-hot indicator per neighbor -- effectively "counting", like Weisfeiler-Lehman refinement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0">
                <a:solidFill>
                  <a:srgbClr val="333333"/>
                </a:solidFill>
              </a:rPr>
              <a:t>▪  </a:t>
            </a:r>
            <a:r>
              <a:rPr sz="1600" b="1">
                <a:solidFill>
                  <a:srgbClr val="333333"/>
                </a:solidFill>
              </a:rPr>
              <a:t>Prediction</a:t>
            </a:r>
            <a:r>
              <a:rPr sz="1600" b="0">
                <a:solidFill>
                  <a:srgbClr val="333333"/>
                </a:solidFill>
              </a:rPr>
              <a:t>: pool should degrade more gracefully than GCN when features are corrupted (tested empirically -- Results VI)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i="1" sz="1000">
                <a:solidFill>
                  <a:srgbClr val="8C8C8C"/>
                </a:solidFill>
              </a:rPr>
              <a:t>GraphSAGE on PPI – Scaled Reproduction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46520"/>
            <a:ext cx="54864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8C8C8C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b="1" sz="2800">
                <a:solidFill>
                  <a:srgbClr val="1F385C"/>
                </a:solidFill>
              </a:rPr>
              <a:t>8. Our Scaled Reproduction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05840" cy="44450"/>
          </a:xfrm>
          <a:prstGeom prst="rect">
            <a:avLst/>
          </a:prstGeom>
          <a:solidFill>
            <a:srgbClr val="1B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85855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333333"/>
                </a:solidFill>
              </a:rPr>
              <a:t>▪  </a:t>
            </a:r>
            <a:r>
              <a:rPr sz="1500" b="1">
                <a:solidFill>
                  <a:srgbClr val="333333"/>
                </a:solidFill>
              </a:rPr>
              <a:t>Budget</a:t>
            </a:r>
            <a:r>
              <a:rPr sz="1500" b="0">
                <a:solidFill>
                  <a:srgbClr val="333333"/>
                </a:solidFill>
              </a:rPr>
              <a:t>: single local consumer GPU (RTX 2060), strict </a:t>
            </a:r>
            <a:r>
              <a:rPr sz="1500" b="1">
                <a:solidFill>
                  <a:srgbClr val="333333"/>
                </a:solidFill>
              </a:rPr>
              <a:t>2-hour</a:t>
            </a:r>
            <a:r>
              <a:rPr sz="1500" b="0">
                <a:solidFill>
                  <a:srgbClr val="333333"/>
                </a:solidFill>
              </a:rPr>
              <a:t> compute budget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333333"/>
                </a:solidFill>
              </a:rPr>
              <a:t>▪  </a:t>
            </a:r>
            <a:r>
              <a:rPr sz="1500" b="1">
                <a:solidFill>
                  <a:srgbClr val="333333"/>
                </a:solidFill>
              </a:rPr>
              <a:t>Not reduced</a:t>
            </a:r>
            <a:r>
              <a:rPr sz="1500" b="0">
                <a:solidFill>
                  <a:srgbClr val="333333"/>
                </a:solidFill>
              </a:rPr>
              <a:t>: the algorithm itself -- K=2, S1=25, S2=10, all 4 aggregators, both losses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333333"/>
                </a:solidFill>
              </a:rPr>
              <a:t>▪  </a:t>
            </a:r>
            <a:r>
              <a:rPr sz="1500" b="1">
                <a:solidFill>
                  <a:srgbClr val="333333"/>
                </a:solidFill>
              </a:rPr>
              <a:t>Reduced</a:t>
            </a:r>
            <a:r>
              <a:rPr sz="1500" b="0">
                <a:solidFill>
                  <a:srgbClr val="333333"/>
                </a:solidFill>
              </a:rPr>
              <a:t>: purely the *experimental budget* (hyperparameter grid, seed count, epoch/step counts)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383280"/>
            <a:ext cx="1981139" cy="822960"/>
          </a:xfrm>
          <a:prstGeom prst="round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300">
                <a:solidFill>
                  <a:srgbClr val="FFFFFF"/>
                </a:solidFill>
              </a:rPr>
              <a:t>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84059" y="3566160"/>
            <a:ext cx="320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595959"/>
                </a:solidFill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04099" y="3383280"/>
            <a:ext cx="1981139" cy="822960"/>
          </a:xfrm>
          <a:prstGeom prst="round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300">
                <a:solidFill>
                  <a:srgbClr val="FFFFFF"/>
                </a:solidFill>
              </a:rPr>
              <a:t>Sweep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85238" y="3566160"/>
            <a:ext cx="320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595959"/>
                </a:solidFill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05278" y="3383280"/>
            <a:ext cx="1981139" cy="822960"/>
          </a:xfrm>
          <a:prstGeom prst="round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300">
                <a:solidFill>
                  <a:srgbClr val="FFFFFF"/>
                </a:solidFill>
              </a:rPr>
              <a:t>Multi-seed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417" y="3566160"/>
            <a:ext cx="320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595959"/>
                </a:solidFill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457" y="3383280"/>
            <a:ext cx="1981139" cy="822960"/>
          </a:xfrm>
          <a:prstGeom prst="round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300">
                <a:solidFill>
                  <a:srgbClr val="FFFFFF"/>
                </a:solidFill>
              </a:rPr>
              <a:t>Sensitivity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87596" y="3566160"/>
            <a:ext cx="320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595959"/>
                </a:solidFill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07636" y="3383280"/>
            <a:ext cx="1981139" cy="822960"/>
          </a:xfrm>
          <a:prstGeom prst="round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300">
                <a:solidFill>
                  <a:srgbClr val="FFFFFF"/>
                </a:solidFill>
              </a:rPr>
              <a:t>Noise-robustness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572000"/>
            <a:ext cx="11185855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333333"/>
                </a:solidFill>
              </a:rPr>
              <a:t>All four tiers together: </a:t>
            </a:r>
            <a:r>
              <a:rPr sz="1500" b="1">
                <a:solidFill>
                  <a:srgbClr val="333333"/>
                </a:solidFill>
              </a:rPr>
              <a:t>73.1 minutes</a:t>
            </a:r>
            <a:r>
              <a:rPr sz="1500" b="0">
                <a:solidFill>
                  <a:srgbClr val="333333"/>
                </a:solidFill>
              </a:rPr>
              <a:t> total, comfortably under budget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i="1" sz="1000">
                <a:solidFill>
                  <a:srgbClr val="8C8C8C"/>
                </a:solidFill>
              </a:rPr>
              <a:t>GraphSAGE on PPI – Scaled Reproduction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5855" y="6446520"/>
            <a:ext cx="54864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8C8C8C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b="1" sz="2800">
                <a:solidFill>
                  <a:srgbClr val="1F385C"/>
                </a:solidFill>
              </a:rPr>
              <a:t>9. Results I: Accuracy vs. the Paper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05840" cy="44450"/>
          </a:xfrm>
          <a:prstGeom prst="rect">
            <a:avLst/>
          </a:prstGeom>
          <a:solidFill>
            <a:srgbClr val="1B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234440"/>
          <a:ext cx="11185852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202103"/>
                <a:gridCol w="2202103"/>
                <a:gridCol w="2202103"/>
                <a:gridCol w="2202103"/>
              </a:tblGrid>
              <a:tr h="26778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anchor="ctr" marL="73152" marR="73152" marT="18288" marB="18288">
                    <a:solidFill>
                      <a:srgbClr val="1F38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Unsup. F1</a:t>
                      </a:r>
                    </a:p>
                    <a:p>
                      <a:r>
                        <a:t>(ours)</a:t>
                      </a:r>
                    </a:p>
                  </a:txBody>
                  <a:tcPr anchor="ctr" marL="73152" marR="73152" marT="18288" marB="18288">
                    <a:solidFill>
                      <a:srgbClr val="1F38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Unsup. F1</a:t>
                      </a:r>
                    </a:p>
                    <a:p>
                      <a:r>
                        <a:t>(paper)</a:t>
                      </a:r>
                    </a:p>
                  </a:txBody>
                  <a:tcPr anchor="ctr" marL="73152" marR="73152" marT="18288" marB="18288">
                    <a:solidFill>
                      <a:srgbClr val="1F38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Sup. F1</a:t>
                      </a:r>
                    </a:p>
                    <a:p>
                      <a:r>
                        <a:t>(ours)</a:t>
                      </a:r>
                    </a:p>
                  </a:txBody>
                  <a:tcPr anchor="ctr" marL="73152" marR="73152" marT="18288" marB="18288">
                    <a:solidFill>
                      <a:srgbClr val="1F38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Sup. F1</a:t>
                      </a:r>
                    </a:p>
                    <a:p>
                      <a:r>
                        <a:t>(paper)</a:t>
                      </a:r>
                    </a:p>
                  </a:txBody>
                  <a:tcPr anchor="ctr" marL="73152" marR="73152" marT="18288" marB="18288">
                    <a:solidFill>
                      <a:srgbClr val="1F385C"/>
                    </a:solidFill>
                  </a:tcPr>
                </a:tc>
              </a:tr>
              <a:tr h="26778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</a:rPr>
                        <a:t>Random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333333"/>
                          </a:solidFill>
                        </a:rPr>
                        <a:t>0.398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333333"/>
                          </a:solidFill>
                        </a:rPr>
                        <a:t>0.396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333333"/>
                          </a:solidFill>
                        </a:rPr>
                        <a:t>0.398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333333"/>
                          </a:solidFill>
                        </a:rPr>
                        <a:t>0.396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26778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</a:rPr>
                        <a:t>Raw features</a:t>
                      </a:r>
                    </a:p>
                  </a:txBody>
                  <a:tcPr anchor="ctr" marL="73152" marR="73152" marT="18288" marB="18288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333333"/>
                          </a:solidFill>
                        </a:rPr>
                        <a:t>0.432</a:t>
                      </a:r>
                    </a:p>
                  </a:txBody>
                  <a:tcPr anchor="ctr" marL="73152" marR="73152" marT="18288" marB="18288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333333"/>
                          </a:solidFill>
                        </a:rPr>
                        <a:t>0.422</a:t>
                      </a:r>
                    </a:p>
                  </a:txBody>
                  <a:tcPr anchor="ctr" marL="73152" marR="73152" marT="18288" marB="18288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333333"/>
                          </a:solidFill>
                        </a:rPr>
                        <a:t>0.432</a:t>
                      </a:r>
                    </a:p>
                  </a:txBody>
                  <a:tcPr anchor="ctr" marL="73152" marR="73152" marT="18288" marB="18288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333333"/>
                          </a:solidFill>
                        </a:rPr>
                        <a:t>0.422</a:t>
                      </a:r>
                    </a:p>
                  </a:txBody>
                  <a:tcPr anchor="ctr" marL="73152" marR="73152" marT="18288" marB="18288">
                    <a:solidFill>
                      <a:srgbClr val="F4F6F7"/>
                    </a:solidFill>
                  </a:tcPr>
                </a:tc>
              </a:tr>
              <a:tr h="26778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</a:rPr>
                        <a:t>GraphSAGE-GCN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333333"/>
                          </a:solidFill>
                        </a:rPr>
                        <a:t>0.473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333333"/>
                          </a:solidFill>
                        </a:rPr>
                        <a:t>0.465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333333"/>
                          </a:solidFill>
                        </a:rPr>
                        <a:t>0.521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333333"/>
                          </a:solidFill>
                        </a:rPr>
                        <a:t>0.500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26778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</a:rPr>
                        <a:t>GraphSAGE-mean</a:t>
                      </a:r>
                    </a:p>
                  </a:txBody>
                  <a:tcPr anchor="ctr" marL="73152" marR="73152" marT="18288" marB="18288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333333"/>
                          </a:solidFill>
                        </a:rPr>
                        <a:t>0.464</a:t>
                      </a:r>
                    </a:p>
                  </a:txBody>
                  <a:tcPr anchor="ctr" marL="73152" marR="73152" marT="18288" marB="18288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333333"/>
                          </a:solidFill>
                        </a:rPr>
                        <a:t>0.486</a:t>
                      </a:r>
                    </a:p>
                  </a:txBody>
                  <a:tcPr anchor="ctr" marL="73152" marR="73152" marT="18288" marB="18288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333333"/>
                          </a:solidFill>
                        </a:rPr>
                        <a:t>0.585</a:t>
                      </a:r>
                    </a:p>
                  </a:txBody>
                  <a:tcPr anchor="ctr" marL="73152" marR="73152" marT="18288" marB="18288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333333"/>
                          </a:solidFill>
                        </a:rPr>
                        <a:t>0.598</a:t>
                      </a:r>
                    </a:p>
                  </a:txBody>
                  <a:tcPr anchor="ctr" marL="73152" marR="73152" marT="18288" marB="18288">
                    <a:solidFill>
                      <a:srgbClr val="F4F6F7"/>
                    </a:solidFill>
                  </a:tcPr>
                </a:tc>
              </a:tr>
              <a:tr h="26778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</a:rPr>
                        <a:t>GraphSAGE-LSTM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333333"/>
                          </a:solidFill>
                        </a:rPr>
                        <a:t>0.439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333333"/>
                          </a:solidFill>
                        </a:rPr>
                        <a:t>0.482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333333"/>
                          </a:solidFill>
                        </a:rPr>
                        <a:t>0.599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333333"/>
                          </a:solidFill>
                        </a:rPr>
                        <a:t>0.612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267791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</a:rPr>
                        <a:t>GraphSAGE-pool</a:t>
                      </a:r>
                    </a:p>
                  </a:txBody>
                  <a:tcPr anchor="ctr" marL="73152" marR="73152" marT="18288" marB="18288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333333"/>
                          </a:solidFill>
                        </a:rPr>
                        <a:t>0.466</a:t>
                      </a:r>
                    </a:p>
                  </a:txBody>
                  <a:tcPr anchor="ctr" marL="73152" marR="73152" marT="18288" marB="18288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333333"/>
                          </a:solidFill>
                        </a:rPr>
                        <a:t>0.502</a:t>
                      </a:r>
                    </a:p>
                  </a:txBody>
                  <a:tcPr anchor="ctr" marL="73152" marR="73152" marT="18288" marB="18288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333333"/>
                          </a:solidFill>
                        </a:rPr>
                        <a:t>0.602</a:t>
                      </a:r>
                    </a:p>
                  </a:txBody>
                  <a:tcPr anchor="ctr" marL="73152" marR="73152" marT="18288" marB="18288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333333"/>
                          </a:solidFill>
                        </a:rPr>
                        <a:t>0.600</a:t>
                      </a:r>
                    </a:p>
                  </a:txBody>
                  <a:tcPr anchor="ctr" marL="73152" marR="73152" marT="18288" marB="18288"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ppi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887" y="3291840"/>
            <a:ext cx="6217920" cy="2331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15000"/>
            <a:ext cx="11185855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>
                  <a:srgbClr val="333333"/>
                </a:solidFill>
              </a:rPr>
              <a:t>Same qualitative ordering</a:t>
            </a:r>
            <a:r>
              <a:rPr sz="1300" b="0">
                <a:solidFill>
                  <a:srgbClr val="333333"/>
                </a:solidFill>
              </a:rPr>
              <a:t> as the paper: GraphSAGE ≫ Raw features &gt; Random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i="1" sz="1000">
                <a:solidFill>
                  <a:srgbClr val="8C8C8C"/>
                </a:solidFill>
              </a:rPr>
              <a:t>GraphSAGE on PPI – Scaled Reproduction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46520"/>
            <a:ext cx="54864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8C8C8C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b="1" sz="2800">
                <a:solidFill>
                  <a:srgbClr val="1F385C"/>
                </a:solidFill>
              </a:rPr>
              <a:t>10. Results II: Training Cost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05840" cy="44450"/>
          </a:xfrm>
          <a:prstGeom prst="rect">
            <a:avLst/>
          </a:prstGeom>
          <a:solidFill>
            <a:srgbClr val="1B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0"/>
            <a:ext cx="420624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333333"/>
                </a:solidFill>
              </a:rPr>
              <a:t>▪  Seconds/iteration per aggregator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333333"/>
                </a:solidFill>
              </a:rPr>
              <a:t>▪  Supervised vs. unsupervised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333333"/>
                </a:solidFill>
              </a:rPr>
              <a:t>▪  Confirms the paper's own runtime-tradeoff intuition across aggregator choices</a:t>
            </a:r>
          </a:p>
        </p:txBody>
      </p:sp>
      <p:pic>
        <p:nvPicPr>
          <p:cNvPr id="5" name="Picture 4" descr="ppi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472935"/>
            <a:ext cx="6796735" cy="43693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i="1" sz="1000">
                <a:solidFill>
                  <a:srgbClr val="8C8C8C"/>
                </a:solidFill>
              </a:rPr>
              <a:t>GraphSAGE on PPI – Scaled Reproduction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46520"/>
            <a:ext cx="54864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8C8C8C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b="1" sz="2800">
                <a:solidFill>
                  <a:srgbClr val="1F385C"/>
                </a:solidFill>
              </a:rPr>
              <a:t>11. Training Dynamics — Loss (Supervised)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05840" cy="44450"/>
          </a:xfrm>
          <a:prstGeom prst="rect">
            <a:avLst/>
          </a:prstGeom>
          <a:solidFill>
            <a:srgbClr val="1B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85855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0">
                <a:solidFill>
                  <a:srgbClr val="333333"/>
                </a:solidFill>
              </a:rPr>
              <a:t>▪  GraphSAGE-</a:t>
            </a:r>
            <a:r>
              <a:rPr sz="1400" b="1">
                <a:solidFill>
                  <a:srgbClr val="333333"/>
                </a:solidFill>
              </a:rPr>
              <a:t>pool</a:t>
            </a:r>
            <a:r>
              <a:rPr sz="1400" b="0">
                <a:solidFill>
                  <a:srgbClr val="333333"/>
                </a:solidFill>
              </a:rPr>
              <a:t> (strongest) vs. GraphSAGE-</a:t>
            </a:r>
            <a:r>
              <a:rPr sz="1400" b="1">
                <a:solidFill>
                  <a:srgbClr val="333333"/>
                </a:solidFill>
              </a:rPr>
              <a:t>GCN</a:t>
            </a:r>
            <a:r>
              <a:rPr sz="1400" b="0">
                <a:solidFill>
                  <a:srgbClr val="333333"/>
                </a:solidFill>
              </a:rPr>
              <a:t> (weakest) – supervised loss over training</a:t>
            </a:r>
          </a:p>
        </p:txBody>
      </p:sp>
      <p:pic>
        <p:nvPicPr>
          <p:cNvPr id="5" name="Picture 4" descr="ppi_loss_curves_supervised_graphsage_maxp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1326" y="2468880"/>
            <a:ext cx="4488782" cy="3566160"/>
          </a:xfrm>
          <a:prstGeom prst="rect">
            <a:avLst/>
          </a:prstGeom>
        </p:spPr>
      </p:pic>
      <p:pic>
        <p:nvPicPr>
          <p:cNvPr id="6" name="Picture 5" descr="ppi_loss_curves_supervised_gc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1587" y="2468880"/>
            <a:ext cx="4488782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i="1" sz="1000">
                <a:solidFill>
                  <a:srgbClr val="8C8C8C"/>
                </a:solidFill>
              </a:rPr>
              <a:t>GraphSAGE on PPI – Scaled Reproduction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46520"/>
            <a:ext cx="54864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8C8C8C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b="1" sz="2800">
                <a:solidFill>
                  <a:srgbClr val="1F385C"/>
                </a:solidFill>
              </a:rPr>
              <a:t>11. Training Dynamics — Loss (Unsupervised)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05840" cy="44450"/>
          </a:xfrm>
          <a:prstGeom prst="rect">
            <a:avLst/>
          </a:prstGeom>
          <a:solidFill>
            <a:srgbClr val="1B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85855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0">
                <a:solidFill>
                  <a:srgbClr val="333333"/>
                </a:solidFill>
              </a:rPr>
              <a:t>▪  GraphSAGE-</a:t>
            </a:r>
            <a:r>
              <a:rPr sz="1400" b="1">
                <a:solidFill>
                  <a:srgbClr val="333333"/>
                </a:solidFill>
              </a:rPr>
              <a:t>pool</a:t>
            </a:r>
            <a:r>
              <a:rPr sz="1400" b="0">
                <a:solidFill>
                  <a:srgbClr val="333333"/>
                </a:solidFill>
              </a:rPr>
              <a:t> (strongest) vs. GraphSAGE-</a:t>
            </a:r>
            <a:r>
              <a:rPr sz="1400" b="1">
                <a:solidFill>
                  <a:srgbClr val="333333"/>
                </a:solidFill>
              </a:rPr>
              <a:t>GCN</a:t>
            </a:r>
            <a:r>
              <a:rPr sz="1400" b="0">
                <a:solidFill>
                  <a:srgbClr val="333333"/>
                </a:solidFill>
              </a:rPr>
              <a:t> (weakest) – unsupervised loss over training</a:t>
            </a:r>
          </a:p>
        </p:txBody>
      </p:sp>
      <p:pic>
        <p:nvPicPr>
          <p:cNvPr id="5" name="Picture 4" descr="ppi_loss_curves_unsupervised_graphsage_maxp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7869" y="2468880"/>
            <a:ext cx="4482238" cy="3566160"/>
          </a:xfrm>
          <a:prstGeom prst="rect">
            <a:avLst/>
          </a:prstGeom>
        </p:spPr>
      </p:pic>
      <p:pic>
        <p:nvPicPr>
          <p:cNvPr id="6" name="Picture 5" descr="ppi_loss_curves_unsupervised_gc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1587" y="2468880"/>
            <a:ext cx="4482238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i="1" sz="1000">
                <a:solidFill>
                  <a:srgbClr val="8C8C8C"/>
                </a:solidFill>
              </a:rPr>
              <a:t>GraphSAGE on PPI – Scaled Reproduction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46520"/>
            <a:ext cx="54864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8C8C8C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b="1" sz="2800">
                <a:solidFill>
                  <a:srgbClr val="1F385C"/>
                </a:solidFill>
              </a:rPr>
              <a:t>11. Training Dynamics — Performance (Supervised)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05840" cy="44450"/>
          </a:xfrm>
          <a:prstGeom prst="rect">
            <a:avLst/>
          </a:prstGeom>
          <a:solidFill>
            <a:srgbClr val="1B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85855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0">
                <a:solidFill>
                  <a:srgbClr val="333333"/>
                </a:solidFill>
              </a:rPr>
              <a:t>▪  GraphSAGE-</a:t>
            </a:r>
            <a:r>
              <a:rPr sz="1400" b="1">
                <a:solidFill>
                  <a:srgbClr val="333333"/>
                </a:solidFill>
              </a:rPr>
              <a:t>pool</a:t>
            </a:r>
            <a:r>
              <a:rPr sz="1400" b="0">
                <a:solidFill>
                  <a:srgbClr val="333333"/>
                </a:solidFill>
              </a:rPr>
              <a:t> (strongest) vs. GraphSAGE-</a:t>
            </a:r>
            <a:r>
              <a:rPr sz="1400" b="1">
                <a:solidFill>
                  <a:srgbClr val="333333"/>
                </a:solidFill>
              </a:rPr>
              <a:t>GCN</a:t>
            </a:r>
            <a:r>
              <a:rPr sz="1400" b="0">
                <a:solidFill>
                  <a:srgbClr val="333333"/>
                </a:solidFill>
              </a:rPr>
              <a:t> (weakest) – supervised performance (F1 micro) over training</a:t>
            </a:r>
          </a:p>
        </p:txBody>
      </p:sp>
      <p:pic>
        <p:nvPicPr>
          <p:cNvPr id="5" name="Picture 4" descr="ppi_performance_curves_supervised_graphsage_maxp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1326" y="2468880"/>
            <a:ext cx="4488782" cy="3566160"/>
          </a:xfrm>
          <a:prstGeom prst="rect">
            <a:avLst/>
          </a:prstGeom>
        </p:spPr>
      </p:pic>
      <p:pic>
        <p:nvPicPr>
          <p:cNvPr id="6" name="Picture 5" descr="ppi_performance_curves_supervised_gc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1587" y="2468880"/>
            <a:ext cx="4488782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i="1" sz="1000">
                <a:solidFill>
                  <a:srgbClr val="8C8C8C"/>
                </a:solidFill>
              </a:rPr>
              <a:t>GraphSAGE on PPI – Scaled Reproduction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46520"/>
            <a:ext cx="54864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8C8C8C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b="1" sz="2800">
                <a:solidFill>
                  <a:srgbClr val="1F385C"/>
                </a:solidFill>
              </a:rPr>
              <a:t>11. Training Dynamics — Performance (Unsupervised)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05840" cy="44450"/>
          </a:xfrm>
          <a:prstGeom prst="rect">
            <a:avLst/>
          </a:prstGeom>
          <a:solidFill>
            <a:srgbClr val="1B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85855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0">
                <a:solidFill>
                  <a:srgbClr val="333333"/>
                </a:solidFill>
              </a:rPr>
              <a:t>▪  GraphSAGE-</a:t>
            </a:r>
            <a:r>
              <a:rPr sz="1400" b="1">
                <a:solidFill>
                  <a:srgbClr val="333333"/>
                </a:solidFill>
              </a:rPr>
              <a:t>pool</a:t>
            </a:r>
            <a:r>
              <a:rPr sz="1400" b="0">
                <a:solidFill>
                  <a:srgbClr val="333333"/>
                </a:solidFill>
              </a:rPr>
              <a:t> (strongest) vs. GraphSAGE-</a:t>
            </a:r>
            <a:r>
              <a:rPr sz="1400" b="1">
                <a:solidFill>
                  <a:srgbClr val="333333"/>
                </a:solidFill>
              </a:rPr>
              <a:t>GCN</a:t>
            </a:r>
            <a:r>
              <a:rPr sz="1400" b="0">
                <a:solidFill>
                  <a:srgbClr val="333333"/>
                </a:solidFill>
              </a:rPr>
              <a:t> (weakest) – unsupervised performance (MRR) over training</a:t>
            </a:r>
          </a:p>
        </p:txBody>
      </p:sp>
      <p:pic>
        <p:nvPicPr>
          <p:cNvPr id="5" name="Picture 4" descr="ppi_performance_curves_unsupervised_graphsage_maxp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7869" y="2468880"/>
            <a:ext cx="4482238" cy="3566160"/>
          </a:xfrm>
          <a:prstGeom prst="rect">
            <a:avLst/>
          </a:prstGeom>
        </p:spPr>
      </p:pic>
      <p:pic>
        <p:nvPicPr>
          <p:cNvPr id="6" name="Picture 5" descr="ppi_performance_curves_unsupervised_gc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1587" y="2468880"/>
            <a:ext cx="4482238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i="1" sz="1000">
                <a:solidFill>
                  <a:srgbClr val="8C8C8C"/>
                </a:solidFill>
              </a:rPr>
              <a:t>GraphSAGE on PPI – Scaled Reproduction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46520"/>
            <a:ext cx="54864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8C8C8C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b="1" sz="2800">
                <a:solidFill>
                  <a:srgbClr val="1F385C"/>
                </a:solidFill>
              </a:rPr>
              <a:t>12. Embedding Evolution — Step 0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05840" cy="44450"/>
          </a:xfrm>
          <a:prstGeom prst="rect">
            <a:avLst/>
          </a:prstGeom>
          <a:solidFill>
            <a:srgbClr val="1B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85855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0">
                <a:solidFill>
                  <a:srgbClr val="333333"/>
                </a:solidFill>
              </a:rPr>
              <a:t>▪  Right after initialization – structurally different nodes not yet separated</a:t>
            </a:r>
          </a:p>
        </p:txBody>
      </p:sp>
      <p:pic>
        <p:nvPicPr>
          <p:cNvPr id="5" name="Picture 4" descr="ppi_embedding_pca_step_00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549" y="2148840"/>
            <a:ext cx="5039029" cy="4023360"/>
          </a:xfrm>
          <a:prstGeom prst="rect">
            <a:avLst/>
          </a:prstGeom>
        </p:spPr>
      </p:pic>
      <p:pic>
        <p:nvPicPr>
          <p:cNvPr id="6" name="Picture 5" descr="ppi_embedding_tsne_step_000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2218" y="2148840"/>
            <a:ext cx="5274927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i="1" sz="1000">
                <a:solidFill>
                  <a:srgbClr val="8C8C8C"/>
                </a:solidFill>
              </a:rPr>
              <a:t>GraphSAGE on PPI – Scaled Reproduction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46520"/>
            <a:ext cx="54864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8C8C8C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b="1" sz="2800">
                <a:solidFill>
                  <a:srgbClr val="1F385C"/>
                </a:solidFill>
              </a:rPr>
              <a:t>12. Embedding Evolution — Step 200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05840" cy="44450"/>
          </a:xfrm>
          <a:prstGeom prst="rect">
            <a:avLst/>
          </a:prstGeom>
          <a:solidFill>
            <a:srgbClr val="1B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85855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0">
                <a:solidFill>
                  <a:srgbClr val="333333"/>
                </a:solidFill>
              </a:rPr>
              <a:t>▪  Cluster structure already largely in place – ~3 orders of magnitude short of a full epoch</a:t>
            </a:r>
          </a:p>
        </p:txBody>
      </p:sp>
      <p:pic>
        <p:nvPicPr>
          <p:cNvPr id="5" name="Picture 4" descr="ppi_embedding_pca_step_002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549" y="2148840"/>
            <a:ext cx="5039029" cy="4023360"/>
          </a:xfrm>
          <a:prstGeom prst="rect">
            <a:avLst/>
          </a:prstGeom>
        </p:spPr>
      </p:pic>
      <p:pic>
        <p:nvPicPr>
          <p:cNvPr id="6" name="Picture 5" descr="ppi_embedding_tsne_step_002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2218" y="2148840"/>
            <a:ext cx="5274927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i="1" sz="1000">
                <a:solidFill>
                  <a:srgbClr val="8C8C8C"/>
                </a:solidFill>
              </a:rPr>
              <a:t>GraphSAGE on PPI – Scaled Reproduction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46520"/>
            <a:ext cx="54864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8C8C8C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b="1" sz="2800">
                <a:solidFill>
                  <a:srgbClr val="1F385C"/>
                </a:solidFill>
              </a:rPr>
              <a:t>12. Embedding Evolution — Step 17,050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05840" cy="44450"/>
          </a:xfrm>
          <a:prstGeom prst="rect">
            <a:avLst/>
          </a:prstGeom>
          <a:solidFill>
            <a:srgbClr val="1B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85855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0">
                <a:solidFill>
                  <a:srgbClr val="333333"/>
                </a:solidFill>
              </a:rPr>
              <a:t>▪  Final stage (~1 full epoch) – training mostly refines distances/density from here</a:t>
            </a:r>
          </a:p>
        </p:txBody>
      </p:sp>
      <p:pic>
        <p:nvPicPr>
          <p:cNvPr id="5" name="Picture 4" descr="ppi_embedding_pca_step_170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549" y="2148840"/>
            <a:ext cx="5039029" cy="4023360"/>
          </a:xfrm>
          <a:prstGeom prst="rect">
            <a:avLst/>
          </a:prstGeom>
        </p:spPr>
      </p:pic>
      <p:pic>
        <p:nvPicPr>
          <p:cNvPr id="6" name="Picture 5" descr="ppi_embedding_tsne_step_170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2218" y="2148840"/>
            <a:ext cx="5274927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i="1" sz="1000">
                <a:solidFill>
                  <a:srgbClr val="8C8C8C"/>
                </a:solidFill>
              </a:rPr>
              <a:t>GraphSAGE on PPI – Scaled Reproduction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46520"/>
            <a:ext cx="54864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8C8C8C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b="1" sz="2800">
                <a:solidFill>
                  <a:srgbClr val="1F385C"/>
                </a:solidFill>
              </a:rPr>
              <a:t>12. Embedding Evolution — Structural Signal (Degree)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05840" cy="44450"/>
          </a:xfrm>
          <a:prstGeom prst="rect">
            <a:avLst/>
          </a:prstGeom>
          <a:solidFill>
            <a:srgbClr val="1B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85855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0">
                <a:solidFill>
                  <a:srgbClr val="333333"/>
                </a:solidFill>
              </a:rPr>
              <a:t>▪  Final stage colored by node </a:t>
            </a:r>
            <a:r>
              <a:rPr sz="1400" b="1">
                <a:solidFill>
                  <a:srgbClr val="333333"/>
                </a:solidFill>
              </a:rPr>
              <a:t>degree</a:t>
            </a:r>
            <a:r>
              <a:rPr sz="1400" b="0">
                <a:solidFill>
                  <a:srgbClr val="333333"/>
                </a:solidFill>
              </a:rPr>
              <a:t> instead of split – a direct check of Theorem 1's structural-signal claim</a:t>
            </a:r>
          </a:p>
        </p:txBody>
      </p:sp>
      <p:pic>
        <p:nvPicPr>
          <p:cNvPr id="5" name="Picture 4" descr="ppi_embedding_pca_deg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757" y="2148840"/>
            <a:ext cx="5317490" cy="3611880"/>
          </a:xfrm>
          <a:prstGeom prst="rect">
            <a:avLst/>
          </a:prstGeom>
        </p:spPr>
      </p:pic>
      <p:pic>
        <p:nvPicPr>
          <p:cNvPr id="6" name="Picture 5" descr="ppi_embedding_tsne_degr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2148840"/>
            <a:ext cx="5317490" cy="3611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i="1" sz="1000">
                <a:solidFill>
                  <a:srgbClr val="8C8C8C"/>
                </a:solidFill>
              </a:rPr>
              <a:t>GraphSAGE on PPI – Scaled Reproduction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46520"/>
            <a:ext cx="54864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8C8C8C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b="1" sz="2800">
                <a:solidFill>
                  <a:srgbClr val="1F385C"/>
                </a:solidFill>
              </a:rPr>
              <a:t>13. Results V: K-Sensitivity (Section 4.3)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05840" cy="44450"/>
          </a:xfrm>
          <a:prstGeom prst="rect">
            <a:avLst/>
          </a:prstGeom>
          <a:solidFill>
            <a:srgbClr val="1B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457200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333333"/>
                </a:solidFill>
              </a:rPr>
              <a:t>▪  </a:t>
            </a:r>
            <a:r>
              <a:rPr sz="1500" b="1">
                <a:solidFill>
                  <a:srgbClr val="333333"/>
                </a:solidFill>
              </a:rPr>
              <a:t>K=2 beats K=1</a:t>
            </a:r>
            <a:r>
              <a:rPr sz="1500" b="0">
                <a:solidFill>
                  <a:srgbClr val="333333"/>
                </a:solidFill>
              </a:rPr>
              <a:t>: 0.585 vs. 0.472 F1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333333"/>
                </a:solidFill>
              </a:rPr>
              <a:t>▪  </a:t>
            </a:r>
            <a:r>
              <a:rPr sz="1500" b="1">
                <a:solidFill>
                  <a:srgbClr val="333333"/>
                </a:solidFill>
              </a:rPr>
              <a:t>K=3 no better</a:t>
            </a:r>
            <a:r>
              <a:rPr sz="1500" b="0">
                <a:solidFill>
                  <a:srgbClr val="333333"/>
                </a:solidFill>
              </a:rPr>
              <a:t>: 0.575 -- consistent with the paper's "marginal returns beyond K=2"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333333"/>
                </a:solidFill>
              </a:rPr>
              <a:t>▪  Same panel also shows the </a:t>
            </a:r>
            <a:r>
              <a:rPr sz="1500" b="1">
                <a:solidFill>
                  <a:srgbClr val="333333"/>
                </a:solidFill>
              </a:rPr>
              <a:t>runtime cost</a:t>
            </a:r>
            <a:r>
              <a:rPr sz="1500" b="0">
                <a:solidFill>
                  <a:srgbClr val="333333"/>
                </a:solidFill>
              </a:rPr>
              <a:t> growing with K</a:t>
            </a:r>
          </a:p>
        </p:txBody>
      </p:sp>
      <p:pic>
        <p:nvPicPr>
          <p:cNvPr id="5" name="Picture 4" descr="ppi_k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319063"/>
            <a:ext cx="6430975" cy="46770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i="1" sz="1000">
                <a:solidFill>
                  <a:srgbClr val="8C8C8C"/>
                </a:solidFill>
              </a:rPr>
              <a:t>GraphSAGE on PPI – Scaled Reproduction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46520"/>
            <a:ext cx="54864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8C8C8C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b="1" sz="2800">
                <a:solidFill>
                  <a:srgbClr val="1F385C"/>
                </a:solidFill>
              </a:rPr>
              <a:t>14. Results VI: Noise Robustness (Theorem 1, Empirical)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05840" cy="44450"/>
          </a:xfrm>
          <a:prstGeom prst="rect">
            <a:avLst/>
          </a:prstGeom>
          <a:solidFill>
            <a:srgbClr val="1B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457200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333333"/>
                </a:solidFill>
              </a:rPr>
              <a:t>▪  </a:t>
            </a:r>
            <a:r>
              <a:rPr sz="1500" b="1">
                <a:solidFill>
                  <a:srgbClr val="333333"/>
                </a:solidFill>
              </a:rPr>
              <a:t>GraphSAGE-pool</a:t>
            </a:r>
            <a:r>
              <a:rPr sz="1500" b="0">
                <a:solidFill>
                  <a:srgbClr val="333333"/>
                </a:solidFill>
              </a:rPr>
              <a:t> stays above both GCN and the raw-features baseline at every noise level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333333"/>
                </a:solidFill>
              </a:rPr>
              <a:t>▪  </a:t>
            </a:r>
            <a:r>
              <a:rPr sz="1500" b="1">
                <a:solidFill>
                  <a:srgbClr val="333333"/>
                </a:solidFill>
              </a:rPr>
              <a:t>GCN falls below raw features</a:t>
            </a:r>
            <a:r>
              <a:rPr sz="1500" b="0">
                <a:solidFill>
                  <a:srgbClr val="333333"/>
                </a:solidFill>
              </a:rPr>
              <a:t> at full noise (0.389 vs. 0.393)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333333"/>
                </a:solidFill>
              </a:rPr>
              <a:t>▪  Exactly the structural-reliance gap </a:t>
            </a:r>
            <a:r>
              <a:rPr sz="1500" b="1">
                <a:solidFill>
                  <a:srgbClr val="333333"/>
                </a:solidFill>
              </a:rPr>
              <a:t>Theorem 1</a:t>
            </a:r>
            <a:r>
              <a:rPr sz="1500" b="0">
                <a:solidFill>
                  <a:srgbClr val="333333"/>
                </a:solidFill>
              </a:rPr>
              <a:t> predicts</a:t>
            </a:r>
          </a:p>
        </p:txBody>
      </p:sp>
      <p:pic>
        <p:nvPicPr>
          <p:cNvPr id="5" name="Picture 4" descr="ppi_noise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431493"/>
            <a:ext cx="6430975" cy="4452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i="1" sz="1000">
                <a:solidFill>
                  <a:srgbClr val="8C8C8C"/>
                </a:solidFill>
              </a:rPr>
              <a:t>GraphSAGE on PPI – Scaled Reproduction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46520"/>
            <a:ext cx="54864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8C8C8C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b="1" sz="2800">
                <a:solidFill>
                  <a:srgbClr val="1F385C"/>
                </a:solidFill>
              </a:rPr>
              <a:t>15. Discussion &amp; 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05840" cy="44450"/>
          </a:xfrm>
          <a:prstGeom prst="rect">
            <a:avLst/>
          </a:prstGeom>
          <a:solidFill>
            <a:srgbClr val="1B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0"/>
            <a:ext cx="11185855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700" b="0">
                <a:solidFill>
                  <a:srgbClr val="333333"/>
                </a:solidFill>
              </a:rPr>
              <a:t>▪  Qualitative ordering </a:t>
            </a:r>
            <a:r>
              <a:rPr sz="1700" b="1">
                <a:solidFill>
                  <a:srgbClr val="333333"/>
                </a:solidFill>
              </a:rPr>
              <a:t>survives the scale-down</a:t>
            </a:r>
            <a:r>
              <a:rPr sz="1700" b="0">
                <a:solidFill>
                  <a:srgbClr val="333333"/>
                </a:solidFill>
              </a:rPr>
              <a:t>: GraphSAGE ≫ Raw features &gt; Random, GCN weakest, LSTM/pool strongest, supervised ≥ unsupervised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700" b="0">
                <a:solidFill>
                  <a:srgbClr val="333333"/>
                </a:solidFill>
              </a:rPr>
              <a:t>▪  Numerical gaps vs. paper explained by: reduced hyperparameter grid, fewer seeds, TensorFlow version drift, different hardware (1× RTX 2060 vs. 4× Titan X Pascal)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700" b="0">
                <a:solidFill>
                  <a:srgbClr val="333333"/>
                </a:solidFill>
              </a:rPr>
              <a:t>▪  Both theoretical claims -- </a:t>
            </a:r>
            <a:r>
              <a:rPr sz="1700" b="1">
                <a:solidFill>
                  <a:srgbClr val="333333"/>
                </a:solidFill>
              </a:rPr>
              <a:t>K-sensitivity</a:t>
            </a:r>
            <a:r>
              <a:rPr sz="1700" b="0">
                <a:solidFill>
                  <a:srgbClr val="333333"/>
                </a:solidFill>
              </a:rPr>
              <a:t> and </a:t>
            </a:r>
            <a:r>
              <a:rPr sz="1700" b="1">
                <a:solidFill>
                  <a:srgbClr val="333333"/>
                </a:solidFill>
              </a:rPr>
              <a:t>noise-robustness</a:t>
            </a:r>
            <a:r>
              <a:rPr sz="1700" b="0">
                <a:solidFill>
                  <a:srgbClr val="333333"/>
                </a:solidFill>
              </a:rPr>
              <a:t> -- independently </a:t>
            </a:r>
            <a:r>
              <a:rPr sz="1700" b="1">
                <a:solidFill>
                  <a:srgbClr val="333333"/>
                </a:solidFill>
              </a:rPr>
              <a:t>verified on PPI</a:t>
            </a:r>
            <a:r>
              <a:rPr sz="1700" b="0">
                <a:solidFill>
                  <a:srgbClr val="333333"/>
                </a:solidFill>
              </a:rPr>
              <a:t>, not just asserted from the paper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i="1" sz="1000">
                <a:solidFill>
                  <a:srgbClr val="8C8C8C"/>
                </a:solidFill>
              </a:rPr>
              <a:t>GraphSAGE on PPI – Scaled Reproduction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46520"/>
            <a:ext cx="54864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8C8C8C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926080"/>
            <a:ext cx="121916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4400">
                <a:solidFill>
                  <a:srgbClr val="1F385C"/>
                </a:solidFill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i="1" sz="1000">
                <a:solidFill>
                  <a:srgbClr val="8C8C8C"/>
                </a:solidFill>
              </a:rPr>
              <a:t>GraphSAGE on PPI – Scaled Reproduction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8C8C8C"/>
                </a:solidFill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